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2BBB48B-769F-4989-9D25-330F93910DD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1143000" y="685800"/>
            <a:ext cx="4571640" cy="3428640"/>
          </a:xfrm>
          <a:prstGeom prst="rect">
            <a:avLst/>
          </a:prstGeom>
          <a:ln w="0">
            <a:noFill/>
          </a:ln>
        </p:spPr>
      </p:sp>
      <p:sp>
        <p:nvSpPr>
          <p:cNvPr id="4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Opening (about 45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DapurPlan is a daily decision workspace for small food businesses. The central question is not just “what did we sell?” but “given what we sold, what recipes we make, and what stock we have, what should we prepare tomorrow?” We connect those records into a reviewable plan. The current forecast artifact uses synthetic data, so we are presenting a working prototype and a validation plan—not claiming proven reductions in waste or shortages.</a:t>
            </a:r>
            <a:endParaRPr lang="en-US" sz="2000" b="0" u="none" strike="noStrike">
              <a:solidFill>
                <a:srgbClr val="000000"/>
              </a:solidFill>
              <a:effectLst/>
              <a:uFillTx/>
              <a:latin typeface="Arial"/>
            </a:endParaRPr>
          </a:p>
        </p:txBody>
      </p:sp>
      <p:sp>
        <p:nvSpPr>
          <p:cNvPr id="482"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D520D45-2901-4CCD-81EA-6EDC3864CA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1143000" y="685800"/>
            <a:ext cx="4571640" cy="3428640"/>
          </a:xfrm>
          <a:prstGeom prst="rect">
            <a:avLst/>
          </a:prstGeom>
          <a:ln w="0">
            <a:noFill/>
          </a:ln>
        </p:spPr>
      </p:sp>
      <p:sp>
        <p:nvSpPr>
          <p:cNvPr id="4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Problem framing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For a small food operator, preparation is a recurring decision made under uncertainty. Sales history, recipe quantities and stock may each exist, but are often disconnected. The friction is in the hand-off: translating servings into ingredients, checking what stock is still available, and updating the plan when assumptions change. This project starts from that operational workflow. We do not have field research or measured waste/stockout baselines in the repository, so we deliberately avoid unsupported percentages or market-size claims. A pilot is needed to validate both the pain and impact.</a:t>
            </a:r>
            <a:endParaRPr lang="en-US" sz="2000" b="0" u="none" strike="noStrike">
              <a:solidFill>
                <a:srgbClr val="000000"/>
              </a:solidFill>
              <a:effectLst/>
              <a:uFillTx/>
              <a:latin typeface="Arial"/>
            </a:endParaRPr>
          </a:p>
        </p:txBody>
      </p:sp>
      <p:sp>
        <p:nvSpPr>
          <p:cNvPr id="485"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838731C-0071-46BA-8F0B-0CA66663D86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1143000" y="685800"/>
            <a:ext cx="4571640" cy="3428640"/>
          </a:xfrm>
          <a:prstGeom prst="rect">
            <a:avLst/>
          </a:prstGeom>
          <a:ln w="0">
            <a:noFill/>
          </a:ln>
        </p:spPr>
      </p:sp>
      <p:sp>
        <p:nvSpPr>
          <p:cNvPr id="4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Solution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product loop is intentionally human-centered. First, save the operational records. The model estimates servings for tomorrow. Recipes translate those servings into ingredient quantities. Inventory availability is calculated using batches that are positive and not expired before the target date; unknown expiry is included with a warning for owner review. The operator can change the preparation amounts, save a draft, or approve after explicitly confirming stock review. Approval records a decision; it does not purchase goods or deduct inventory. This avoids implying that the software automates a physical workflow it cannot currently control.</a:t>
            </a:r>
            <a:endParaRPr lang="en-US" sz="2000" b="0" u="none" strike="noStrike">
              <a:solidFill>
                <a:srgbClr val="000000"/>
              </a:solidFill>
              <a:effectLst/>
              <a:uFillTx/>
              <a:latin typeface="Arial"/>
            </a:endParaRPr>
          </a:p>
        </p:txBody>
      </p:sp>
      <p:sp>
        <p:nvSpPr>
          <p:cNvPr id="488"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EC6BA32-61CA-4F41-A523-72F424F37E5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1143000" y="685800"/>
            <a:ext cx="4571640" cy="3428640"/>
          </a:xfrm>
          <a:prstGeom prst="rect">
            <a:avLst/>
          </a:prstGeom>
          <a:ln w="0">
            <a:noFill/>
          </a:ln>
        </p:spPr>
      </p:sp>
      <p:sp>
        <p:nvSpPr>
          <p:cNvPr id="4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Walkthrough (about 90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Present this as a schematic of the existing planning workflow, not as a captured live database or real customer's quantities. The app first checks if all five menu items have seven complete prior days. It builds a forecast; the forecast editor rounds serving suggestions up to whole servings, and the user can adjust them. The plan computes recipe-scaled ingredient needs, available stock, shortages and pack suggestions. Expired stock is excluded; unknown expiry generates a warning. The owner must confirm that quantities, stock and expiry were reviewed before approval. An approved record is retained for history, and does not automatically consume stock or send a purchase order.</a:t>
            </a:r>
            <a:endParaRPr lang="en-US" sz="2000" b="0" u="none" strike="noStrike">
              <a:solidFill>
                <a:srgbClr val="000000"/>
              </a:solidFill>
              <a:effectLst/>
              <a:uFillTx/>
              <a:latin typeface="Arial"/>
            </a:endParaRPr>
          </a:p>
        </p:txBody>
      </p:sp>
      <p:sp>
        <p:nvSpPr>
          <p:cNvPr id="491"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B861854-FE4E-421C-AC01-74168BC500A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1143000" y="685800"/>
            <a:ext cx="4571640" cy="3428640"/>
          </a:xfrm>
          <a:prstGeom prst="rect">
            <a:avLst/>
          </a:prstGeom>
          <a:ln w="0">
            <a:noFill/>
          </a:ln>
        </p:spPr>
      </p:sp>
      <p:sp>
        <p:nvSpPr>
          <p:cNvPr id="4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Forecast explanation (about 90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For a target date, the web app requires seven consecutive complete daily sales records for all five fixed menus. The input variables are menu identity, weekday, yesterday's servings, servings on the same weekday last week, and the seven-day average. The fitted pipeline one-hot encodes menu identity and passes the numeric features into a 300-tree Random Forest with max depth 6. A last-week baseline is used for comparison. On the checked-in synthetic holdout, the Random Forest MAE is 3.088 servings and baseline MAE is 4.197. Both measurements come from synthetic regular-demand data generated by team assumptions; they do not establish restaurant accuracy. Training on real records excludes demo-provenance days, incomplete days and sold-out observations. Re-training requires at least 84 complete non-demo days and uses a chronological holdout. The model reports decimal estimates; the planning UI rounds prep upward to whole servings.</a:t>
            </a:r>
            <a:endParaRPr lang="en-US" sz="2000" b="0" u="none" strike="noStrike">
              <a:solidFill>
                <a:srgbClr val="000000"/>
              </a:solidFill>
              <a:effectLst/>
              <a:uFillTx/>
              <a:latin typeface="Arial"/>
            </a:endParaRPr>
          </a:p>
        </p:txBody>
      </p:sp>
      <p:sp>
        <p:nvSpPr>
          <p:cNvPr id="494"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AF4D12-7BDE-4772-8912-2141E46D5E6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1143000" y="685800"/>
            <a:ext cx="457164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Planning calculations (about 75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Each recipe line has a quantity and a batch yield. We multiply line quantity by planned servings and divide by batch servings. If multiple menu items use the same ingredient, those needs are summed. Weight and liquid are normalized to base units for comparing quantities; count ingredients are rounded up to whole units. Available stock is computed from positive batches whose expiry is not before the target date. Unknown expiry is included subject to an owner check, with a warning; stock older than today's count date is also flagged. Shortage is the non-negative difference between required and available, and configured pack sizes can inform purchase suggestions. The plan is a decision aid: it doesn't change stock or place an order.</a:t>
            </a:r>
            <a:endParaRPr lang="en-US" sz="2000" b="0" u="none" strike="noStrike">
              <a:solidFill>
                <a:srgbClr val="000000"/>
              </a:solidFill>
              <a:effectLst/>
              <a:uFillTx/>
              <a:latin typeface="Arial"/>
            </a:endParaRPr>
          </a:p>
        </p:txBody>
      </p:sp>
      <p:sp>
        <p:nvSpPr>
          <p:cNvPr id="497"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CB79E4-592C-489E-AF96-282ECD1B741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1143000" y="685800"/>
            <a:ext cx="457164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Connected records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DapurPlan is more than a forecast call. Sales distinguishes blank from confirmed zero; those have different meanings for training and reporting. Recipes and ingredient purchase prices allow cost snapshots. Inventory records count dates, expiry dates and pack sizes. Daily expenses are separate from ingredient cost of sales. The role model distinguishes owner actions from staff data entry. Spreadsheet CSV exchange supports the main operational data types with validation and history; planning is derived from its sources and is export-only. These connections provide context and traceability for a human to review the plan.</a:t>
            </a:r>
            <a:endParaRPr lang="en-US" sz="2000" b="0" u="none" strike="noStrike">
              <a:solidFill>
                <a:srgbClr val="000000"/>
              </a:solidFill>
              <a:effectLst/>
              <a:uFillTx/>
              <a:latin typeface="Arial"/>
            </a:endParaRPr>
          </a:p>
        </p:txBody>
      </p:sp>
      <p:sp>
        <p:nvSpPr>
          <p:cNvPr id="500"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18A56E-A857-4648-A079-B0188987C32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1143000" y="685800"/>
            <a:ext cx="457164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Architecture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browser talks to the Next.js app. Next.js authenticates the prototype user, validates inputs, and stores business records in local SQLite. When a forecast is requested, it constructs the five per-menu feature rows and calls FastAPI. FastAPI loads a trusted joblib pipeline and returns predictions with a model hash and synthetic-data indicator. It does not read or write the business DB. The default local model API binds to loopback. A separate protected RunPod CPU Pod setup guide exists but no endpoint is deployed. The app also has no verified Replit deployment. The repository uses SQLite prototype storage and fixed demo accounts, which are not production multi-tenant infrastructure.</a:t>
            </a:r>
            <a:endParaRPr lang="en-US" sz="2000" b="0" u="none" strike="noStrike">
              <a:solidFill>
                <a:srgbClr val="000000"/>
              </a:solidFill>
              <a:effectLst/>
              <a:uFillTx/>
              <a:latin typeface="Arial"/>
            </a:endParaRPr>
          </a:p>
        </p:txBody>
      </p:sp>
      <p:sp>
        <p:nvSpPr>
          <p:cNvPr id="503"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09610E-DAB2-45DD-B25B-6465D6EB7EE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1143000" y="685800"/>
            <a:ext cx="457164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Impact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Our intended alignment is SDG 12: more responsible consumption and production. The mechanism is support for demand-aware preparation and stock review. We do not claim that DapurPlan has already reduced food waste, costs, or shortages; no customer pilot or before/after dataset is present. A responsible pilot would collect a baseline and then track forecast error against last-week, planned versus actual servings, leftover or discarded amounts if safely and consistently measured, ingredient shortage/purchase events, and the time needed to create a plan. We would report uncertainty and changes in workflow, not just model accuracy. Measurement should be voluntary and use business data with permission.</a:t>
            </a:r>
            <a:endParaRPr lang="en-US" sz="2000" b="0" u="none" strike="noStrike">
              <a:solidFill>
                <a:srgbClr val="000000"/>
              </a:solidFill>
              <a:effectLst/>
              <a:uFillTx/>
              <a:latin typeface="Arial"/>
            </a:endParaRPr>
          </a:p>
        </p:txBody>
      </p:sp>
      <p:sp>
        <p:nvSpPr>
          <p:cNvPr id="506"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5F1A8B5-3557-4C2D-B8C4-CDE37585970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Evidence and limitations (about 75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current repo has input validation, an explicit complete-history gate, a chronological validation pipeline, a simple last-week baseline, and guards on retraining. The checked-in model report clearly identifies synthetic-only training and reports a synthetic holdout. This does not establish restaurant performance, nor does the evaluation estimate waste reduction. Data quality also matters: sold-out days can censor demand, so the real-data training script excludes days with sold-out observations. Before external deployment, replace shared demo credentials, secure the service, plan persistent multi-user storage, and test backup/recovery. Replit and RunPod setup should be considered a deployment path, not evidence of a deployed product.</a:t>
            </a:r>
            <a:endParaRPr lang="en-US" sz="2000" b="0" u="none" strike="noStrike">
              <a:solidFill>
                <a:srgbClr val="000000"/>
              </a:solidFill>
              <a:effectLst/>
              <a:uFillTx/>
              <a:latin typeface="Arial"/>
            </a:endParaRPr>
          </a:p>
        </p:txBody>
      </p:sp>
      <p:sp>
        <p:nvSpPr>
          <p:cNvPr id="509"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80C1BD-E179-4552-92DE-0E53B4BA1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143000" y="685800"/>
            <a:ext cx="457164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Roadmap (about 60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next step is not to declare the model finished. We need deployment readiness and a partner willing to establish a baseline. First, secure user accounts and persistent data storage, and define consent and data handling. Then onboard a small pilot and collect complete daily records. Compare the model with the existing last-week baseline, and measure operational outcomes alongside forecast error. Only retrain when enough eligible, non-demo complete data exists; the script's current minimum is 84 complete days and it uses chronological validation and per-menu safeguards. Use pilot feedback to improve the workflow, and expand only if evidence supports doing so.</a:t>
            </a:r>
            <a:endParaRPr lang="en-US" sz="2000" b="0" u="none" strike="noStrike">
              <a:solidFill>
                <a:srgbClr val="000000"/>
              </a:solidFill>
              <a:effectLst/>
              <a:uFillTx/>
              <a:latin typeface="Arial"/>
            </a:endParaRPr>
          </a:p>
        </p:txBody>
      </p:sp>
      <p:sp>
        <p:nvSpPr>
          <p:cNvPr id="512"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CA2E05-DB59-4914-A9E3-9134EED9259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(about 45 seconds).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are Team S.E.E.S, Domain 2, aligned with SDG 12, with three members from Universiti Malaysia Terengganu and Universiti Teknologi MARA. Our team leader is Muhammad Amal Irfan Bin Shaharuddin. Our ask is for operator partners and mentors who can help us validate the problem, establish a baseline, and test this workflow with real sales data under appropriate consent. The current prototype is a starting point; real-world performance and impact are still to be demonstrated. Thank you.</a:t>
            </a:r>
            <a:endParaRPr lang="en-US" sz="2000" b="0" u="none" strike="noStrike">
              <a:solidFill>
                <a:srgbClr val="000000"/>
              </a:solidFill>
              <a:effectLst/>
              <a:uFillTx/>
              <a:latin typeface="Arial"/>
            </a:endParaRPr>
          </a:p>
        </p:txBody>
      </p:sp>
      <p:sp>
        <p:nvSpPr>
          <p:cNvPr id="515"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155390-0D8C-4C1F-9B5F-969D7AE627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7F6C60C-576B-4F9A-8850-8BC628BF332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B79D9FC-71A4-488C-837A-FD086C762D4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8E41470-7942-4880-89AF-B5602BD6168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a:t>
            </a:r>
            <a:r>
              <a:rPr lang="en-US" sz="4400" b="0" u="none" strike="noStrike">
                <a:solidFill>
                  <a:schemeClr val="dk1"/>
                </a:solidFill>
                <a:effectLst/>
                <a:uFillTx/>
                <a:latin typeface="Calibri"/>
              </a:rPr>
              <a:t>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1D27D93-6972-4AC9-9ABB-EC376C8B2C4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a:t>
            </a:r>
            <a:r>
              <a:rPr lang="en-US" sz="4000" b="1" u="none" strike="noStrike" cap="all">
                <a:solidFill>
                  <a:schemeClr val="dk1"/>
                </a:solidFill>
                <a:effectLst/>
                <a:uFillTx/>
                <a:latin typeface="Calibri"/>
              </a:rPr>
              <a:t>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E3E2C37-FF0F-402F-8D6F-FEFBD438ADD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a:t>
            </a:r>
            <a:r>
              <a:rPr lang="en-US" sz="4400" b="0" u="none" strike="noStrike">
                <a:solidFill>
                  <a:schemeClr val="dk1"/>
                </a:solidFill>
                <a:effectLst/>
                <a:uFillTx/>
                <a:latin typeface="Calibri"/>
              </a:rPr>
              <a:t>to edit </a:t>
            </a:r>
            <a:r>
              <a:rPr lang="en-US" sz="4400" b="0" u="none" strike="noStrike">
                <a:solidFill>
                  <a:schemeClr val="dk1"/>
                </a:solidFill>
                <a:effectLst/>
                <a:uFillTx/>
                <a:latin typeface="Calibri"/>
              </a:rPr>
              <a:t>Maste</a:t>
            </a:r>
            <a:r>
              <a:rPr lang="en-US" sz="4400" b="0" u="none" strike="noStrike">
                <a:solidFill>
                  <a:schemeClr val="dk1"/>
                </a:solidFill>
                <a:effectLst/>
                <a:uFillTx/>
                <a:latin typeface="Calibri"/>
              </a:rPr>
              <a:t>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1816002-3155-439C-8D1A-E1F5AC2A993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BF42922-886A-4893-86BA-E08EF25FD5C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79FB757-BAF7-46FF-9684-F0DE252FDAB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3D8A79-C2A5-4E4B-8DBA-072B18DC07A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a:t>
            </a:r>
            <a:r>
              <a:rPr lang="en-US" sz="4400" b="0" u="none" strike="noStrike">
                <a:solidFill>
                  <a:schemeClr val="dk1"/>
                </a:solidFill>
                <a:effectLst/>
                <a:uFillTx/>
                <a:latin typeface="Calibri"/>
              </a:rPr>
              <a:t>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D24C735-4627-42DF-BCC0-A3DBD81270F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a:t>
            </a:r>
            <a:r>
              <a:rPr lang="en-US" sz="2000" b="1" u="none" strike="noStrike">
                <a:solidFill>
                  <a:schemeClr val="dk1"/>
                </a:solidFill>
                <a:effectLst/>
                <a:uFillTx/>
                <a:latin typeface="Calibri"/>
              </a:rPr>
              <a:t>edit </a:t>
            </a:r>
            <a:r>
              <a:rPr lang="en-US" sz="2000" b="1" u="none" strike="noStrike">
                <a:solidFill>
                  <a:schemeClr val="dk1"/>
                </a:solidFill>
                <a:effectLst/>
                <a:uFillTx/>
                <a:latin typeface="Calibri"/>
              </a:rPr>
              <a:t>Master </a:t>
            </a:r>
            <a:r>
              <a:rPr lang="en-US" sz="2000" b="1" u="none" strike="noStrike">
                <a:solidFill>
                  <a:schemeClr val="dk1"/>
                </a:solidFill>
                <a:effectLst/>
                <a:uFillTx/>
                <a:latin typeface="Calibri"/>
              </a:rPr>
              <a:t>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A576CF8-8312-4A5F-BAF6-765FA280426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67" name="Rectangle 1"/>
          <p:cNvSpPr/>
          <p:nvPr/>
        </p:nvSpPr>
        <p:spPr>
          <a:xfrm>
            <a:off x="0" y="0"/>
            <a:ext cx="4160160" cy="6857640"/>
          </a:xfrm>
          <a:prstGeom prst="rect">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Oval 2"/>
          <p:cNvSpPr/>
          <p:nvPr/>
        </p:nvSpPr>
        <p:spPr>
          <a:xfrm>
            <a:off x="292680" y="457200"/>
            <a:ext cx="1279800" cy="1279800"/>
          </a:xfrm>
          <a:prstGeom prst="ellipse">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 name="Oval 3"/>
          <p:cNvSpPr/>
          <p:nvPr/>
        </p:nvSpPr>
        <p:spPr>
          <a:xfrm>
            <a:off x="3200400" y="5303880"/>
            <a:ext cx="1554120" cy="1554120"/>
          </a:xfrm>
          <a:prstGeom prst="ellipse">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 name="Oval 4"/>
          <p:cNvSpPr/>
          <p:nvPr/>
        </p:nvSpPr>
        <p:spPr>
          <a:xfrm>
            <a:off x="3429000" y="320040"/>
            <a:ext cx="292320" cy="29232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 name="Oval 5"/>
          <p:cNvSpPr/>
          <p:nvPr/>
        </p:nvSpPr>
        <p:spPr>
          <a:xfrm>
            <a:off x="567000" y="5897880"/>
            <a:ext cx="200880" cy="20088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 name="Rounded Rectangle 6"/>
          <p:cNvSpPr/>
          <p:nvPr/>
        </p:nvSpPr>
        <p:spPr>
          <a:xfrm>
            <a:off x="631080" y="631080"/>
            <a:ext cx="475200" cy="47520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3" name="TextBox 7"/>
          <p:cNvSpPr/>
          <p:nvPr/>
        </p:nvSpPr>
        <p:spPr>
          <a:xfrm>
            <a:off x="704160" y="713160"/>
            <a:ext cx="328680" cy="25560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1300" b="1" u="none" strike="noStrike">
                <a:solidFill>
                  <a:srgbClr val="2563EB"/>
                </a:solidFill>
                <a:effectLst/>
                <a:uFillTx/>
                <a:latin typeface="Noto Sans"/>
              </a:rPr>
              <a:t>DP</a:t>
            </a:r>
            <a:endParaRPr lang="en-US" sz="1300" b="0" u="none" strike="noStrike">
              <a:solidFill>
                <a:srgbClr val="000000"/>
              </a:solidFill>
              <a:effectLst/>
              <a:uFillTx/>
              <a:latin typeface="Arial"/>
            </a:endParaRPr>
          </a:p>
        </p:txBody>
      </p:sp>
      <p:sp>
        <p:nvSpPr>
          <p:cNvPr id="74" name="TextBox 8"/>
          <p:cNvSpPr/>
          <p:nvPr/>
        </p:nvSpPr>
        <p:spPr>
          <a:xfrm>
            <a:off x="1261800" y="685800"/>
            <a:ext cx="2102760" cy="365400"/>
          </a:xfrm>
          <a:prstGeom prst="rect">
            <a:avLst/>
          </a:prstGeom>
          <a:noFill/>
          <a:ln w="0">
            <a:noFill/>
          </a:ln>
        </p:spPr>
        <p:style>
          <a:lnRef idx="0"/>
          <a:fillRef idx="0"/>
          <a:effectRef idx="0"/>
          <a:fontRef idx="minor"/>
        </p:style>
        <p:txBody>
          <a:bodyPr lIns="18360" tIns="18360" rIns="18360" bIns="18360" anchor="ctr">
            <a:spAutoFit/>
          </a:bodyPr>
          <a:p>
            <a:pPr defTabSz="457200">
              <a:lnSpc>
                <a:spcPct val="100000"/>
              </a:lnSpc>
            </a:pPr>
            <a:r>
              <a:rPr lang="en-US" sz="2300" b="1" u="none" strike="noStrike">
                <a:solidFill>
                  <a:srgbClr val="FFFFFF"/>
                </a:solidFill>
                <a:effectLst/>
                <a:uFillTx/>
                <a:latin typeface="Noto Sans"/>
              </a:rPr>
              <a:t>Da</a:t>
            </a:r>
            <a:r>
              <a:rPr lang="en-US" sz="2300" b="1" u="none" strike="noStrike">
                <a:solidFill>
                  <a:srgbClr val="FFFFFF"/>
                </a:solidFill>
                <a:effectLst/>
                <a:uFillTx/>
                <a:latin typeface="Noto Sans"/>
              </a:rPr>
              <a:t>pur</a:t>
            </a:r>
            <a:r>
              <a:rPr lang="en-US" sz="2300" b="1" u="none" strike="noStrike">
                <a:solidFill>
                  <a:srgbClr val="FFFFFF"/>
                </a:solidFill>
                <a:effectLst/>
                <a:uFillTx/>
                <a:latin typeface="Noto Sans"/>
              </a:rPr>
              <a:t>Pla</a:t>
            </a:r>
            <a:r>
              <a:rPr lang="en-US" sz="2300" b="1" u="none" strike="noStrike">
                <a:solidFill>
                  <a:srgbClr val="FFFFFF"/>
                </a:solidFill>
                <a:effectLst/>
                <a:uFillTx/>
                <a:latin typeface="Noto Sans"/>
              </a:rPr>
              <a:t>n</a:t>
            </a:r>
            <a:endParaRPr lang="en-US" sz="2300" b="0" u="none" strike="noStrike">
              <a:solidFill>
                <a:srgbClr val="000000"/>
              </a:solidFill>
              <a:effectLst/>
              <a:uFillTx/>
              <a:latin typeface="Arial"/>
            </a:endParaRPr>
          </a:p>
        </p:txBody>
      </p:sp>
      <p:sp>
        <p:nvSpPr>
          <p:cNvPr id="75" name="Rounded Rectangle 9"/>
          <p:cNvSpPr/>
          <p:nvPr/>
        </p:nvSpPr>
        <p:spPr>
          <a:xfrm>
            <a:off x="658440" y="1874520"/>
            <a:ext cx="202968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 name="TextBox 10"/>
          <p:cNvSpPr/>
          <p:nvPr/>
        </p:nvSpPr>
        <p:spPr>
          <a:xfrm>
            <a:off x="713160" y="1897200"/>
            <a:ext cx="19198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900" b="1" u="none" strike="noStrike">
                <a:solidFill>
                  <a:srgbClr val="2563EB"/>
                </a:solidFill>
                <a:effectLst/>
                <a:uFillTx/>
                <a:latin typeface="Noto Sans"/>
              </a:rPr>
              <a:t>SDC HACKATHON 2026</a:t>
            </a:r>
            <a:endParaRPr lang="en-US" sz="900" b="0" u="none" strike="noStrike">
              <a:solidFill>
                <a:srgbClr val="000000"/>
              </a:solidFill>
              <a:effectLst/>
              <a:uFillTx/>
              <a:latin typeface="Arial"/>
            </a:endParaRPr>
          </a:p>
        </p:txBody>
      </p:sp>
      <p:sp>
        <p:nvSpPr>
          <p:cNvPr id="77" name="TextBox 11"/>
          <p:cNvSpPr/>
          <p:nvPr/>
        </p:nvSpPr>
        <p:spPr>
          <a:xfrm>
            <a:off x="658440" y="2468880"/>
            <a:ext cx="3364560" cy="12250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2700" b="1" u="none" strike="noStrike">
                <a:solidFill>
                  <a:srgbClr val="FFFFFF"/>
                </a:solidFill>
                <a:effectLst/>
                <a:uFillTx/>
                <a:latin typeface="Noto Sans"/>
              </a:rPr>
              <a:t>Cook to demand.</a:t>
            </a:r>
            <a:endParaRPr lang="en-US" sz="2700" b="0" u="none" strike="noStrike">
              <a:solidFill>
                <a:srgbClr val="000000"/>
              </a:solidFill>
              <a:effectLst/>
              <a:uFillTx/>
              <a:latin typeface="Arial"/>
            </a:endParaRPr>
          </a:p>
          <a:p>
            <a:pPr defTabSz="457200">
              <a:lnSpc>
                <a:spcPct val="100000"/>
              </a:lnSpc>
            </a:pPr>
            <a:r>
              <a:rPr lang="en-US" sz="2700" b="1" u="none" strike="noStrike">
                <a:solidFill>
                  <a:srgbClr val="FFFFFF"/>
                </a:solidFill>
                <a:effectLst/>
                <a:uFillTx/>
                <a:latin typeface="Noto Sans"/>
              </a:rPr>
              <a:t>Not guesswork.</a:t>
            </a:r>
            <a:endParaRPr lang="en-US" sz="2700" b="0" u="none" strike="noStrike">
              <a:solidFill>
                <a:srgbClr val="000000"/>
              </a:solidFill>
              <a:effectLst/>
              <a:uFillTx/>
              <a:latin typeface="Arial"/>
            </a:endParaRPr>
          </a:p>
        </p:txBody>
      </p:sp>
      <p:sp>
        <p:nvSpPr>
          <p:cNvPr id="78" name="TextBox 12"/>
          <p:cNvSpPr/>
          <p:nvPr/>
        </p:nvSpPr>
        <p:spPr>
          <a:xfrm>
            <a:off x="694800" y="3931920"/>
            <a:ext cx="2998800" cy="1005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500" b="0" u="none" strike="noStrike">
                <a:solidFill>
                  <a:srgbClr val="FFFFFF"/>
                </a:solidFill>
                <a:effectLst/>
                <a:uFillTx/>
                <a:latin typeface="Noto Sans"/>
              </a:rPr>
              <a:t>A daily decision workspace for food businesses: forecast servings, calculate ingredients, review the plan.</a:t>
            </a:r>
            <a:endParaRPr lang="en-US" sz="1500" b="0" u="none" strike="noStrike">
              <a:solidFill>
                <a:srgbClr val="000000"/>
              </a:solidFill>
              <a:effectLst/>
              <a:uFillTx/>
              <a:latin typeface="Arial"/>
            </a:endParaRPr>
          </a:p>
        </p:txBody>
      </p:sp>
      <p:sp>
        <p:nvSpPr>
          <p:cNvPr id="79" name="TextBox 13"/>
          <p:cNvSpPr/>
          <p:nvPr/>
        </p:nvSpPr>
        <p:spPr>
          <a:xfrm>
            <a:off x="694800" y="6144840"/>
            <a:ext cx="3154320" cy="301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FFFFFF"/>
                </a:solidFill>
                <a:effectLst/>
                <a:uFillTx/>
                <a:latin typeface="Noto Sans"/>
              </a:rPr>
              <a:t>TEAM S.E.E.S  •  DOMAIN 2  •  SDG 12</a:t>
            </a:r>
            <a:endParaRPr lang="en-US" sz="900" b="0" u="none" strike="noStrike">
              <a:solidFill>
                <a:srgbClr val="000000"/>
              </a:solidFill>
              <a:effectLst/>
              <a:uFillTx/>
              <a:latin typeface="Arial"/>
            </a:endParaRPr>
          </a:p>
        </p:txBody>
      </p:sp>
      <p:sp>
        <p:nvSpPr>
          <p:cNvPr id="80" name="TextBox 14"/>
          <p:cNvSpPr/>
          <p:nvPr/>
        </p:nvSpPr>
        <p:spPr>
          <a:xfrm>
            <a:off x="4709160" y="932760"/>
            <a:ext cx="6583320" cy="3106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THE DECISION WE HELP MAKE</a:t>
            </a:r>
            <a:endParaRPr lang="en-US" sz="900" b="0" u="none" strike="noStrike">
              <a:solidFill>
                <a:srgbClr val="000000"/>
              </a:solidFill>
              <a:effectLst/>
              <a:uFillTx/>
              <a:latin typeface="Arial"/>
            </a:endParaRPr>
          </a:p>
        </p:txBody>
      </p:sp>
      <p:sp>
        <p:nvSpPr>
          <p:cNvPr id="81" name="TextBox 15"/>
          <p:cNvSpPr/>
          <p:nvPr/>
        </p:nvSpPr>
        <p:spPr>
          <a:xfrm>
            <a:off x="4681800" y="1380600"/>
            <a:ext cx="6400440" cy="1005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2900" b="1" u="none" strike="noStrike">
                <a:solidFill>
                  <a:srgbClr val="172B4D"/>
                </a:solidFill>
                <a:effectLst/>
                <a:uFillTx/>
                <a:latin typeface="Noto Sans"/>
              </a:rPr>
              <a:t>What should we prepare</a:t>
            </a:r>
            <a:endParaRPr lang="en-US" sz="2900" b="0" u="none" strike="noStrike">
              <a:solidFill>
                <a:srgbClr val="000000"/>
              </a:solidFill>
              <a:effectLst/>
              <a:uFillTx/>
              <a:latin typeface="Arial"/>
            </a:endParaRPr>
          </a:p>
          <a:p>
            <a:pPr defTabSz="457200">
              <a:lnSpc>
                <a:spcPct val="100000"/>
              </a:lnSpc>
            </a:pPr>
            <a:r>
              <a:rPr lang="en-US" sz="2900" b="1" u="none" strike="noStrike">
                <a:solidFill>
                  <a:srgbClr val="172B4D"/>
                </a:solidFill>
                <a:effectLst/>
                <a:uFillTx/>
                <a:latin typeface="Noto Sans"/>
              </a:rPr>
              <a:t>for tomorrow?</a:t>
            </a:r>
            <a:endParaRPr lang="en-US" sz="2900" b="0" u="none" strike="noStrike">
              <a:solidFill>
                <a:srgbClr val="000000"/>
              </a:solidFill>
              <a:effectLst/>
              <a:uFillTx/>
              <a:latin typeface="Arial"/>
            </a:endParaRPr>
          </a:p>
        </p:txBody>
      </p:sp>
      <p:sp>
        <p:nvSpPr>
          <p:cNvPr id="82" name="TextBox 16"/>
          <p:cNvSpPr/>
          <p:nvPr/>
        </p:nvSpPr>
        <p:spPr>
          <a:xfrm>
            <a:off x="4727520" y="2679120"/>
            <a:ext cx="6034680" cy="6487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600" b="0" u="none" strike="noStrike">
                <a:solidFill>
                  <a:srgbClr val="405472"/>
                </a:solidFill>
                <a:effectLst/>
                <a:uFillTx/>
                <a:latin typeface="Noto Sans"/>
              </a:rPr>
              <a:t>DapurPlan connects recent sales with recipes and usable stock—so a person can make a better-informed preparation decision.</a:t>
            </a:r>
            <a:endParaRPr lang="en-US" sz="1600" b="0" u="none" strike="noStrike">
              <a:solidFill>
                <a:srgbClr val="000000"/>
              </a:solidFill>
              <a:effectLst/>
              <a:uFillTx/>
              <a:latin typeface="Arial"/>
            </a:endParaRPr>
          </a:p>
        </p:txBody>
      </p:sp>
      <p:sp>
        <p:nvSpPr>
          <p:cNvPr id="83" name="Rounded Rectangle 17"/>
          <p:cNvSpPr/>
          <p:nvPr/>
        </p:nvSpPr>
        <p:spPr>
          <a:xfrm>
            <a:off x="4736520" y="3840480"/>
            <a:ext cx="1874160" cy="102384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TextBox 18"/>
          <p:cNvSpPr/>
          <p:nvPr/>
        </p:nvSpPr>
        <p:spPr>
          <a:xfrm>
            <a:off x="4873680" y="4023360"/>
            <a:ext cx="159984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FORECAST</a:t>
            </a:r>
            <a:endParaRPr lang="en-US" sz="900" b="0" u="none" strike="noStrike">
              <a:solidFill>
                <a:srgbClr val="000000"/>
              </a:solidFill>
              <a:effectLst/>
              <a:uFillTx/>
              <a:latin typeface="Arial"/>
            </a:endParaRPr>
          </a:p>
        </p:txBody>
      </p:sp>
      <p:sp>
        <p:nvSpPr>
          <p:cNvPr id="85" name="TextBox 19"/>
          <p:cNvSpPr/>
          <p:nvPr/>
        </p:nvSpPr>
        <p:spPr>
          <a:xfrm>
            <a:off x="4873680" y="4361760"/>
            <a:ext cx="1599840" cy="301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servings</a:t>
            </a:r>
            <a:endParaRPr lang="en-US" sz="1200" b="0" u="none" strike="noStrike">
              <a:solidFill>
                <a:srgbClr val="000000"/>
              </a:solidFill>
              <a:effectLst/>
              <a:uFillTx/>
              <a:latin typeface="Arial"/>
            </a:endParaRPr>
          </a:p>
        </p:txBody>
      </p:sp>
      <p:sp>
        <p:nvSpPr>
          <p:cNvPr id="86" name="Rounded Rectangle 20"/>
          <p:cNvSpPr/>
          <p:nvPr/>
        </p:nvSpPr>
        <p:spPr>
          <a:xfrm>
            <a:off x="6922080" y="3840480"/>
            <a:ext cx="1874160" cy="102384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 name="TextBox 21"/>
          <p:cNvSpPr/>
          <p:nvPr/>
        </p:nvSpPr>
        <p:spPr>
          <a:xfrm>
            <a:off x="7059240" y="4023360"/>
            <a:ext cx="159984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0D8A8A"/>
                </a:solidFill>
                <a:effectLst/>
                <a:uFillTx/>
                <a:latin typeface="Noto Sans"/>
              </a:rPr>
              <a:t>CALCULATE</a:t>
            </a:r>
            <a:endParaRPr lang="en-US" sz="900" b="0" u="none" strike="noStrike">
              <a:solidFill>
                <a:srgbClr val="000000"/>
              </a:solidFill>
              <a:effectLst/>
              <a:uFillTx/>
              <a:latin typeface="Arial"/>
            </a:endParaRPr>
          </a:p>
        </p:txBody>
      </p:sp>
      <p:sp>
        <p:nvSpPr>
          <p:cNvPr id="88" name="TextBox 22"/>
          <p:cNvSpPr/>
          <p:nvPr/>
        </p:nvSpPr>
        <p:spPr>
          <a:xfrm>
            <a:off x="7059240" y="4361760"/>
            <a:ext cx="1599840" cy="301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ingredient needs</a:t>
            </a:r>
            <a:endParaRPr lang="en-US" sz="1200" b="0" u="none" strike="noStrike">
              <a:solidFill>
                <a:srgbClr val="000000"/>
              </a:solidFill>
              <a:effectLst/>
              <a:uFillTx/>
              <a:latin typeface="Arial"/>
            </a:endParaRPr>
          </a:p>
        </p:txBody>
      </p:sp>
      <p:sp>
        <p:nvSpPr>
          <p:cNvPr id="89" name="Rounded Rectangle 23"/>
          <p:cNvSpPr/>
          <p:nvPr/>
        </p:nvSpPr>
        <p:spPr>
          <a:xfrm>
            <a:off x="9107280" y="3840480"/>
            <a:ext cx="1874160" cy="102384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TextBox 24"/>
          <p:cNvSpPr/>
          <p:nvPr/>
        </p:nvSpPr>
        <p:spPr>
          <a:xfrm>
            <a:off x="9244440" y="4023360"/>
            <a:ext cx="159984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REVIEW</a:t>
            </a:r>
            <a:endParaRPr lang="en-US" sz="900" b="0" u="none" strike="noStrike">
              <a:solidFill>
                <a:srgbClr val="000000"/>
              </a:solidFill>
              <a:effectLst/>
              <a:uFillTx/>
              <a:latin typeface="Arial"/>
            </a:endParaRPr>
          </a:p>
        </p:txBody>
      </p:sp>
      <p:sp>
        <p:nvSpPr>
          <p:cNvPr id="91" name="TextBox 25"/>
          <p:cNvSpPr/>
          <p:nvPr/>
        </p:nvSpPr>
        <p:spPr>
          <a:xfrm>
            <a:off x="9244440" y="4361760"/>
            <a:ext cx="1599840" cy="301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draft or approve</a:t>
            </a:r>
            <a:endParaRPr lang="en-US" sz="1200" b="0" u="none" strike="noStrike">
              <a:solidFill>
                <a:srgbClr val="000000"/>
              </a:solidFill>
              <a:effectLst/>
              <a:uFillTx/>
              <a:latin typeface="Arial"/>
            </a:endParaRPr>
          </a:p>
        </p:txBody>
      </p:sp>
      <p:cxnSp>
        <p:nvCxnSpPr>
          <p:cNvPr id="92" name="Connector 26"/>
          <p:cNvCxnSpPr/>
          <p:nvPr/>
        </p:nvCxnSpPr>
        <p:spPr>
          <a:xfrm>
            <a:off x="6638400" y="4352400"/>
            <a:ext cx="247320" cy="360"/>
          </a:xfrm>
          <a:prstGeom prst="straightConnector1">
            <a:avLst/>
          </a:prstGeom>
          <a:ln w="15240">
            <a:solidFill>
              <a:srgbClr val="B8CCE7"/>
            </a:solidFill>
            <a:round/>
          </a:ln>
        </p:spPr>
      </p:cxnSp>
      <p:cxnSp>
        <p:nvCxnSpPr>
          <p:cNvPr id="93" name="Connector 27"/>
          <p:cNvCxnSpPr/>
          <p:nvPr/>
        </p:nvCxnSpPr>
        <p:spPr>
          <a:xfrm>
            <a:off x="8823960" y="4352400"/>
            <a:ext cx="246960" cy="360"/>
          </a:xfrm>
          <a:prstGeom prst="straightConnector1">
            <a:avLst/>
          </a:prstGeom>
          <a:ln w="15240">
            <a:solidFill>
              <a:srgbClr val="B8CCE7"/>
            </a:solidFill>
            <a:round/>
          </a:ln>
        </p:spPr>
      </p:cxnSp>
      <p:sp>
        <p:nvSpPr>
          <p:cNvPr id="94" name="Rounded Rectangle 28"/>
          <p:cNvSpPr/>
          <p:nvPr/>
        </p:nvSpPr>
        <p:spPr>
          <a:xfrm>
            <a:off x="4736880" y="5029200"/>
            <a:ext cx="6235920" cy="80424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 name="TextBox 29"/>
          <p:cNvSpPr/>
          <p:nvPr/>
        </p:nvSpPr>
        <p:spPr>
          <a:xfrm>
            <a:off x="5029200" y="5365080"/>
            <a:ext cx="5715000" cy="205200"/>
          </a:xfrm>
          <a:prstGeom prst="rect">
            <a:avLst/>
          </a:prstGeom>
          <a:noFill/>
          <a:ln w="0">
            <a:noFill/>
          </a:ln>
        </p:spPr>
        <p:style>
          <a:lnRef idx="0"/>
          <a:fillRef idx="0"/>
          <a:effectRef idx="0"/>
          <a:fontRef idx="minor"/>
        </p:style>
        <p:txBody>
          <a:bodyPr lIns="18360" tIns="18360" rIns="18360" bIns="18360" anchor="ctr">
            <a:spAutoFit/>
          </a:bodyPr>
          <a:p>
            <a:pPr defTabSz="457200">
              <a:lnSpc>
                <a:spcPct val="100000"/>
              </a:lnSpc>
            </a:pPr>
            <a:r>
              <a:rPr lang="en-US" sz="1100" b="1" u="none" strike="noStrike">
                <a:solidFill>
                  <a:srgbClr val="A35B09"/>
                </a:solidFill>
                <a:effectLst/>
                <a:uFillTx/>
                <a:latin typeface="Noto Sans"/>
              </a:rPr>
              <a:t>Honest starting point: today's model is trained and evaluated on synthetic data.</a:t>
            </a:r>
            <a:endParaRPr lang="en-US" sz="1100" b="0" u="none" strike="noStrike">
              <a:solidFill>
                <a:srgbClr val="000000"/>
              </a:solidFill>
              <a:effectLst/>
              <a:uFillTx/>
              <a:latin typeface="Arial"/>
            </a:endParaRPr>
          </a:p>
        </p:txBody>
      </p:sp>
      <p:sp>
        <p:nvSpPr>
          <p:cNvPr id="96" name="TextBox 30"/>
          <p:cNvSpPr/>
          <p:nvPr/>
        </p:nvSpPr>
        <p:spPr>
          <a:xfrm>
            <a:off x="8349120" y="5943600"/>
            <a:ext cx="6281280" cy="1897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64748B"/>
                </a:solidFill>
                <a:effectLst/>
                <a:uFillTx/>
                <a:latin typeface="Noto Sans"/>
              </a:rPr>
              <a:t>Team S.E.E.S  |  UMT × UiTM  |  3 members</a:t>
            </a:r>
            <a:endParaRPr lang="en-US" sz="1000" b="0" u="none" strike="noStrike">
              <a:solidFill>
                <a:srgbClr val="000000"/>
              </a:solidFill>
              <a:effectLst/>
              <a:uFillTx/>
              <a:latin typeface="Arial"/>
            </a:endParaRPr>
          </a:p>
        </p:txBody>
      </p:sp>
      <p:sp>
        <p:nvSpPr>
          <p:cNvPr id="97" name="TextBox 4"/>
          <p:cNvSpPr/>
          <p:nvPr/>
        </p:nvSpPr>
        <p:spPr>
          <a:xfrm>
            <a:off x="4800600" y="5943600"/>
            <a:ext cx="6885000" cy="6469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000000"/>
                </a:solidFill>
                <a:effectLst/>
                <a:uFillTx/>
                <a:latin typeface="Noto Sans"/>
              </a:rPr>
              <a:t>Team Members:</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000000"/>
                </a:solidFill>
                <a:effectLst/>
                <a:uFillTx/>
                <a:latin typeface="Noto Sans"/>
              </a:rPr>
              <a:t>Muhammad Amal Irfan Bin Shaharuddin  </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000000"/>
                </a:solidFill>
                <a:effectLst/>
                <a:uFillTx/>
                <a:latin typeface="Noto Sans"/>
              </a:rPr>
              <a:t>Muhammad Alif Asyraf Bin Mohd Azlan     </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000000"/>
                </a:solidFill>
                <a:effectLst/>
                <a:uFillTx/>
                <a:latin typeface="Noto Sans"/>
              </a:rPr>
              <a:t>Muhammad Faiz Aiman Bin Muhamad</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98"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01 / THE PROBLEM</a:t>
            </a:r>
            <a:endParaRPr lang="en-US" sz="800" b="0" u="none" strike="noStrike">
              <a:solidFill>
                <a:srgbClr val="000000"/>
              </a:solidFill>
              <a:effectLst/>
              <a:uFillTx/>
              <a:latin typeface="Arial"/>
            </a:endParaRPr>
          </a:p>
        </p:txBody>
      </p:sp>
      <p:sp>
        <p:nvSpPr>
          <p:cNvPr id="99"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A daily decision is fragmented across records</a:t>
            </a:r>
            <a:endParaRPr lang="en-US" sz="2500" b="0" u="none" strike="noStrike">
              <a:solidFill>
                <a:srgbClr val="000000"/>
              </a:solidFill>
              <a:effectLst/>
              <a:uFillTx/>
              <a:latin typeface="Arial"/>
            </a:endParaRPr>
          </a:p>
        </p:txBody>
      </p:sp>
      <p:sp>
        <p:nvSpPr>
          <p:cNvPr id="100"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Small kitchens often have the information—but not in one place or one decision flow.</a:t>
            </a:r>
            <a:endParaRPr lang="en-US" sz="1100" b="0" u="none" strike="noStrike">
              <a:solidFill>
                <a:srgbClr val="000000"/>
              </a:solidFill>
              <a:effectLst/>
              <a:uFillTx/>
              <a:latin typeface="Arial"/>
            </a:endParaRPr>
          </a:p>
        </p:txBody>
      </p:sp>
      <p:cxnSp>
        <p:nvCxnSpPr>
          <p:cNvPr id="101" name="Connector 4"/>
          <p:cNvCxnSpPr/>
          <p:nvPr/>
        </p:nvCxnSpPr>
        <p:spPr>
          <a:xfrm>
            <a:off x="566640" y="1481040"/>
            <a:ext cx="11046600" cy="360"/>
          </a:xfrm>
          <a:prstGeom prst="straightConnector1">
            <a:avLst/>
          </a:prstGeom>
          <a:ln w="10160">
            <a:solidFill>
              <a:srgbClr val="DCE5F0"/>
            </a:solidFill>
            <a:round/>
          </a:ln>
        </p:spPr>
      </p:cxnSp>
      <p:sp>
        <p:nvSpPr>
          <p:cNvPr id="102"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02</a:t>
            </a:r>
            <a:endParaRPr lang="en-US" sz="800" b="0" u="none" strike="noStrike">
              <a:solidFill>
                <a:srgbClr val="000000"/>
              </a:solidFill>
              <a:effectLst/>
              <a:uFillTx/>
              <a:latin typeface="Arial"/>
            </a:endParaRPr>
          </a:p>
        </p:txBody>
      </p:sp>
      <p:sp>
        <p:nvSpPr>
          <p:cNvPr id="103"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104" name="Rounded Rectangle 7"/>
          <p:cNvSpPr/>
          <p:nvPr/>
        </p:nvSpPr>
        <p:spPr>
          <a:xfrm>
            <a:off x="640080" y="1792080"/>
            <a:ext cx="5166000" cy="414180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 name="TextBox 8"/>
          <p:cNvSpPr/>
          <p:nvPr/>
        </p:nvSpPr>
        <p:spPr>
          <a:xfrm>
            <a:off x="914400" y="2011680"/>
            <a:ext cx="4480200" cy="292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THE OPERATOR'S MORNING</a:t>
            </a:r>
            <a:endParaRPr lang="en-US" sz="900" b="0" u="none" strike="noStrike">
              <a:solidFill>
                <a:srgbClr val="000000"/>
              </a:solidFill>
              <a:effectLst/>
              <a:uFillTx/>
              <a:latin typeface="Arial"/>
            </a:endParaRPr>
          </a:p>
        </p:txBody>
      </p:sp>
      <p:sp>
        <p:nvSpPr>
          <p:cNvPr id="106" name="Oval 9"/>
          <p:cNvSpPr/>
          <p:nvPr/>
        </p:nvSpPr>
        <p:spPr>
          <a:xfrm>
            <a:off x="932760" y="2560320"/>
            <a:ext cx="319680" cy="31968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10"/>
          <p:cNvSpPr/>
          <p:nvPr/>
        </p:nvSpPr>
        <p:spPr>
          <a:xfrm>
            <a:off x="951120" y="2597040"/>
            <a:ext cx="273960" cy="16416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01</a:t>
            </a:r>
            <a:endParaRPr lang="en-US" sz="800" b="0" u="none" strike="noStrike">
              <a:solidFill>
                <a:srgbClr val="000000"/>
              </a:solidFill>
              <a:effectLst/>
              <a:uFillTx/>
              <a:latin typeface="Arial"/>
            </a:endParaRPr>
          </a:p>
        </p:txBody>
      </p:sp>
      <p:sp>
        <p:nvSpPr>
          <p:cNvPr id="108" name="TextBox 11"/>
          <p:cNvSpPr/>
          <p:nvPr/>
        </p:nvSpPr>
        <p:spPr>
          <a:xfrm>
            <a:off x="1417320" y="2560320"/>
            <a:ext cx="35290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Recall yesterday</a:t>
            </a:r>
            <a:endParaRPr lang="en-US" sz="1200" b="0" u="none" strike="noStrike">
              <a:solidFill>
                <a:srgbClr val="000000"/>
              </a:solidFill>
              <a:effectLst/>
              <a:uFillTx/>
              <a:latin typeface="Arial"/>
            </a:endParaRPr>
          </a:p>
        </p:txBody>
      </p:sp>
      <p:sp>
        <p:nvSpPr>
          <p:cNvPr id="109" name="TextBox 12"/>
          <p:cNvSpPr/>
          <p:nvPr/>
        </p:nvSpPr>
        <p:spPr>
          <a:xfrm>
            <a:off x="1426320" y="2843640"/>
            <a:ext cx="391320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64748B"/>
                </a:solidFill>
                <a:effectLst/>
                <a:uFillTx/>
                <a:latin typeface="Noto Sans"/>
              </a:rPr>
              <a:t>What sold? What was not entered?</a:t>
            </a:r>
            <a:endParaRPr lang="en-US" sz="1000" b="0" u="none" strike="noStrike">
              <a:solidFill>
                <a:srgbClr val="000000"/>
              </a:solidFill>
              <a:effectLst/>
              <a:uFillTx/>
              <a:latin typeface="Arial"/>
            </a:endParaRPr>
          </a:p>
        </p:txBody>
      </p:sp>
      <p:cxnSp>
        <p:nvCxnSpPr>
          <p:cNvPr id="110" name="Connector 13"/>
          <p:cNvCxnSpPr/>
          <p:nvPr/>
        </p:nvCxnSpPr>
        <p:spPr>
          <a:xfrm>
            <a:off x="1092600" y="2898360"/>
            <a:ext cx="360" cy="384480"/>
          </a:xfrm>
          <a:prstGeom prst="straightConnector1">
            <a:avLst/>
          </a:prstGeom>
          <a:ln w="13970">
            <a:solidFill>
              <a:srgbClr val="B8CCE7"/>
            </a:solidFill>
            <a:round/>
          </a:ln>
        </p:spPr>
      </p:cxnSp>
      <p:sp>
        <p:nvSpPr>
          <p:cNvPr id="111" name="Oval 14"/>
          <p:cNvSpPr/>
          <p:nvPr/>
        </p:nvSpPr>
        <p:spPr>
          <a:xfrm>
            <a:off x="932760" y="3310200"/>
            <a:ext cx="319680" cy="31968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2" name="TextBox 15"/>
          <p:cNvSpPr/>
          <p:nvPr/>
        </p:nvSpPr>
        <p:spPr>
          <a:xfrm>
            <a:off x="951120" y="3346560"/>
            <a:ext cx="273960" cy="16416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02</a:t>
            </a:r>
            <a:endParaRPr lang="en-US" sz="800" b="0" u="none" strike="noStrike">
              <a:solidFill>
                <a:srgbClr val="000000"/>
              </a:solidFill>
              <a:effectLst/>
              <a:uFillTx/>
              <a:latin typeface="Arial"/>
            </a:endParaRPr>
          </a:p>
        </p:txBody>
      </p:sp>
      <p:sp>
        <p:nvSpPr>
          <p:cNvPr id="113" name="TextBox 16"/>
          <p:cNvSpPr/>
          <p:nvPr/>
        </p:nvSpPr>
        <p:spPr>
          <a:xfrm>
            <a:off x="1417320" y="3310200"/>
            <a:ext cx="35290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Estimate demand</a:t>
            </a:r>
            <a:endParaRPr lang="en-US" sz="1200" b="0" u="none" strike="noStrike">
              <a:solidFill>
                <a:srgbClr val="000000"/>
              </a:solidFill>
              <a:effectLst/>
              <a:uFillTx/>
              <a:latin typeface="Arial"/>
            </a:endParaRPr>
          </a:p>
        </p:txBody>
      </p:sp>
      <p:sp>
        <p:nvSpPr>
          <p:cNvPr id="114" name="TextBox 17"/>
          <p:cNvSpPr/>
          <p:nvPr/>
        </p:nvSpPr>
        <p:spPr>
          <a:xfrm>
            <a:off x="1426320" y="3593520"/>
            <a:ext cx="391320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64748B"/>
                </a:solidFill>
                <a:effectLst/>
                <a:uFillTx/>
                <a:latin typeface="Noto Sans"/>
              </a:rPr>
              <a:t>Will tomorrow be like yesterday or last week?</a:t>
            </a:r>
            <a:endParaRPr lang="en-US" sz="1000" b="0" u="none" strike="noStrike">
              <a:solidFill>
                <a:srgbClr val="000000"/>
              </a:solidFill>
              <a:effectLst/>
              <a:uFillTx/>
              <a:latin typeface="Arial"/>
            </a:endParaRPr>
          </a:p>
        </p:txBody>
      </p:sp>
      <p:cxnSp>
        <p:nvCxnSpPr>
          <p:cNvPr id="115" name="Connector 18"/>
          <p:cNvCxnSpPr/>
          <p:nvPr/>
        </p:nvCxnSpPr>
        <p:spPr>
          <a:xfrm>
            <a:off x="1092600" y="3648240"/>
            <a:ext cx="360" cy="384480"/>
          </a:xfrm>
          <a:prstGeom prst="straightConnector1">
            <a:avLst/>
          </a:prstGeom>
          <a:ln w="13970">
            <a:solidFill>
              <a:srgbClr val="B8CCE7"/>
            </a:solidFill>
            <a:round/>
          </a:ln>
        </p:spPr>
      </p:cxnSp>
      <p:sp>
        <p:nvSpPr>
          <p:cNvPr id="116" name="Oval 19"/>
          <p:cNvSpPr/>
          <p:nvPr/>
        </p:nvSpPr>
        <p:spPr>
          <a:xfrm>
            <a:off x="932760" y="4060080"/>
            <a:ext cx="319680" cy="31968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7" name="TextBox 20"/>
          <p:cNvSpPr/>
          <p:nvPr/>
        </p:nvSpPr>
        <p:spPr>
          <a:xfrm>
            <a:off x="951120" y="4096440"/>
            <a:ext cx="273960" cy="16416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03</a:t>
            </a:r>
            <a:endParaRPr lang="en-US" sz="800" b="0" u="none" strike="noStrike">
              <a:solidFill>
                <a:srgbClr val="000000"/>
              </a:solidFill>
              <a:effectLst/>
              <a:uFillTx/>
              <a:latin typeface="Arial"/>
            </a:endParaRPr>
          </a:p>
        </p:txBody>
      </p:sp>
      <p:sp>
        <p:nvSpPr>
          <p:cNvPr id="118" name="TextBox 21"/>
          <p:cNvSpPr/>
          <p:nvPr/>
        </p:nvSpPr>
        <p:spPr>
          <a:xfrm>
            <a:off x="1417320" y="4060080"/>
            <a:ext cx="35290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Translate to ingredients</a:t>
            </a:r>
            <a:endParaRPr lang="en-US" sz="1200" b="0" u="none" strike="noStrike">
              <a:solidFill>
                <a:srgbClr val="000000"/>
              </a:solidFill>
              <a:effectLst/>
              <a:uFillTx/>
              <a:latin typeface="Arial"/>
            </a:endParaRPr>
          </a:p>
        </p:txBody>
      </p:sp>
      <p:sp>
        <p:nvSpPr>
          <p:cNvPr id="119" name="TextBox 22"/>
          <p:cNvSpPr/>
          <p:nvPr/>
        </p:nvSpPr>
        <p:spPr>
          <a:xfrm>
            <a:off x="1426320" y="4343400"/>
            <a:ext cx="391320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64748B"/>
                </a:solidFill>
                <a:effectLst/>
                <a:uFillTx/>
                <a:latin typeface="Noto Sans"/>
              </a:rPr>
              <a:t>How much rice, chicken, eggs, oil?</a:t>
            </a:r>
            <a:endParaRPr lang="en-US" sz="1000" b="0" u="none" strike="noStrike">
              <a:solidFill>
                <a:srgbClr val="000000"/>
              </a:solidFill>
              <a:effectLst/>
              <a:uFillTx/>
              <a:latin typeface="Arial"/>
            </a:endParaRPr>
          </a:p>
        </p:txBody>
      </p:sp>
      <p:cxnSp>
        <p:nvCxnSpPr>
          <p:cNvPr id="120" name="Connector 23"/>
          <p:cNvCxnSpPr/>
          <p:nvPr/>
        </p:nvCxnSpPr>
        <p:spPr>
          <a:xfrm>
            <a:off x="1092600" y="4398120"/>
            <a:ext cx="360" cy="384480"/>
          </a:xfrm>
          <a:prstGeom prst="straightConnector1">
            <a:avLst/>
          </a:prstGeom>
          <a:ln w="13970">
            <a:solidFill>
              <a:srgbClr val="B8CCE7"/>
            </a:solidFill>
            <a:round/>
          </a:ln>
        </p:spPr>
      </p:cxnSp>
      <p:sp>
        <p:nvSpPr>
          <p:cNvPr id="121" name="Oval 24"/>
          <p:cNvSpPr/>
          <p:nvPr/>
        </p:nvSpPr>
        <p:spPr>
          <a:xfrm>
            <a:off x="932760" y="4809600"/>
            <a:ext cx="319680" cy="31968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TextBox 25"/>
          <p:cNvSpPr/>
          <p:nvPr/>
        </p:nvSpPr>
        <p:spPr>
          <a:xfrm>
            <a:off x="951120" y="4846320"/>
            <a:ext cx="273960" cy="16416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04</a:t>
            </a:r>
            <a:endParaRPr lang="en-US" sz="800" b="0" u="none" strike="noStrike">
              <a:solidFill>
                <a:srgbClr val="000000"/>
              </a:solidFill>
              <a:effectLst/>
              <a:uFillTx/>
              <a:latin typeface="Arial"/>
            </a:endParaRPr>
          </a:p>
        </p:txBody>
      </p:sp>
      <p:sp>
        <p:nvSpPr>
          <p:cNvPr id="123" name="TextBox 26"/>
          <p:cNvSpPr/>
          <p:nvPr/>
        </p:nvSpPr>
        <p:spPr>
          <a:xfrm>
            <a:off x="1417320" y="4809600"/>
            <a:ext cx="35290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Check what is usable</a:t>
            </a:r>
            <a:endParaRPr lang="en-US" sz="1200" b="0" u="none" strike="noStrike">
              <a:solidFill>
                <a:srgbClr val="000000"/>
              </a:solidFill>
              <a:effectLst/>
              <a:uFillTx/>
              <a:latin typeface="Arial"/>
            </a:endParaRPr>
          </a:p>
        </p:txBody>
      </p:sp>
      <p:sp>
        <p:nvSpPr>
          <p:cNvPr id="124" name="TextBox 27"/>
          <p:cNvSpPr/>
          <p:nvPr/>
        </p:nvSpPr>
        <p:spPr>
          <a:xfrm>
            <a:off x="1426320" y="5093280"/>
            <a:ext cx="391320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64748B"/>
                </a:solidFill>
                <a:effectLst/>
                <a:uFillTx/>
                <a:latin typeface="Noto Sans"/>
              </a:rPr>
              <a:t>What remains, and what expires first?</a:t>
            </a:r>
            <a:endParaRPr lang="en-US" sz="1000" b="0" u="none" strike="noStrike">
              <a:solidFill>
                <a:srgbClr val="000000"/>
              </a:solidFill>
              <a:effectLst/>
              <a:uFillTx/>
              <a:latin typeface="Arial"/>
            </a:endParaRPr>
          </a:p>
        </p:txBody>
      </p:sp>
      <p:sp>
        <p:nvSpPr>
          <p:cNvPr id="125" name="Rounded Rectangle 28"/>
          <p:cNvSpPr/>
          <p:nvPr/>
        </p:nvSpPr>
        <p:spPr>
          <a:xfrm>
            <a:off x="6153840" y="1792080"/>
            <a:ext cx="5394600" cy="18741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Rounded Rectangle 29"/>
          <p:cNvSpPr/>
          <p:nvPr/>
        </p:nvSpPr>
        <p:spPr>
          <a:xfrm>
            <a:off x="6428160" y="2039040"/>
            <a:ext cx="137124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7" name="TextBox 30"/>
          <p:cNvSpPr/>
          <p:nvPr/>
        </p:nvSpPr>
        <p:spPr>
          <a:xfrm>
            <a:off x="6483240" y="2062080"/>
            <a:ext cx="12614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A35B09"/>
                </a:solidFill>
                <a:effectLst/>
                <a:uFillTx/>
                <a:latin typeface="Noto Sans"/>
              </a:rPr>
              <a:t>THE FRICTION</a:t>
            </a:r>
            <a:endParaRPr lang="en-US" sz="800" b="0" u="none" strike="noStrike">
              <a:solidFill>
                <a:srgbClr val="000000"/>
              </a:solidFill>
              <a:effectLst/>
              <a:uFillTx/>
              <a:latin typeface="Arial"/>
            </a:endParaRPr>
          </a:p>
        </p:txBody>
      </p:sp>
      <p:sp>
        <p:nvSpPr>
          <p:cNvPr id="128" name="TextBox 31"/>
          <p:cNvSpPr/>
          <p:nvPr/>
        </p:nvSpPr>
        <p:spPr>
          <a:xfrm>
            <a:off x="6437520" y="2523600"/>
            <a:ext cx="4617360" cy="822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700" b="1" u="none" strike="noStrike">
                <a:solidFill>
                  <a:srgbClr val="172B4D"/>
                </a:solidFill>
                <a:effectLst/>
                <a:uFillTx/>
                <a:latin typeface="Noto Sans"/>
              </a:rPr>
              <a:t>Manual hand-offs make the plan hard to calculate, explain, and update when sales or stock changes.</a:t>
            </a:r>
            <a:endParaRPr lang="en-US" sz="1700" b="0" u="none" strike="noStrike">
              <a:solidFill>
                <a:srgbClr val="000000"/>
              </a:solidFill>
              <a:effectLst/>
              <a:uFillTx/>
              <a:latin typeface="Arial"/>
            </a:endParaRPr>
          </a:p>
        </p:txBody>
      </p:sp>
      <p:sp>
        <p:nvSpPr>
          <p:cNvPr id="129" name="Rounded Rectangle 32"/>
          <p:cNvSpPr/>
          <p:nvPr/>
        </p:nvSpPr>
        <p:spPr>
          <a:xfrm>
            <a:off x="6153840" y="3931920"/>
            <a:ext cx="5394600" cy="200232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0" name="TextBox 33"/>
          <p:cNvSpPr/>
          <p:nvPr/>
        </p:nvSpPr>
        <p:spPr>
          <a:xfrm>
            <a:off x="6437520" y="4178880"/>
            <a:ext cx="438876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WHAT WE ARE NOT ASSUMING</a:t>
            </a:r>
            <a:endParaRPr lang="en-US" sz="900" b="0" u="none" strike="noStrike">
              <a:solidFill>
                <a:srgbClr val="000000"/>
              </a:solidFill>
              <a:effectLst/>
              <a:uFillTx/>
              <a:latin typeface="Arial"/>
            </a:endParaRPr>
          </a:p>
        </p:txBody>
      </p:sp>
      <p:sp>
        <p:nvSpPr>
          <p:cNvPr id="131" name="TextBox 34"/>
          <p:cNvSpPr/>
          <p:nvPr/>
        </p:nvSpPr>
        <p:spPr>
          <a:xfrm>
            <a:off x="6437520" y="4599360"/>
            <a:ext cx="4663080" cy="987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0" u="none" strike="noStrike">
                <a:solidFill>
                  <a:srgbClr val="405472"/>
                </a:solidFill>
                <a:effectLst/>
                <a:uFillTx/>
                <a:latin typeface="Noto Sans"/>
              </a:rPr>
              <a:t>We do not claim a measured waste rate, stockout rate, or market size. These are problems to establish with real operators and baseline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132"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02 / THE SOLUTION</a:t>
            </a:r>
            <a:endParaRPr lang="en-US" sz="800" b="0" u="none" strike="noStrike">
              <a:solidFill>
                <a:srgbClr val="000000"/>
              </a:solidFill>
              <a:effectLst/>
              <a:uFillTx/>
              <a:latin typeface="Arial"/>
            </a:endParaRPr>
          </a:p>
        </p:txBody>
      </p:sp>
      <p:sp>
        <p:nvSpPr>
          <p:cNvPr id="133"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One workflow from sales history to reviewed preparation</a:t>
            </a:r>
            <a:endParaRPr lang="en-US" sz="2500" b="0" u="none" strike="noStrike">
              <a:solidFill>
                <a:srgbClr val="000000"/>
              </a:solidFill>
              <a:effectLst/>
              <a:uFillTx/>
              <a:latin typeface="Arial"/>
            </a:endParaRPr>
          </a:p>
        </p:txBody>
      </p:sp>
      <p:sp>
        <p:nvSpPr>
          <p:cNvPr id="134"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DapurPlan brings the daily records and decisions into a single workspace.</a:t>
            </a:r>
            <a:endParaRPr lang="en-US" sz="1100" b="0" u="none" strike="noStrike">
              <a:solidFill>
                <a:srgbClr val="000000"/>
              </a:solidFill>
              <a:effectLst/>
              <a:uFillTx/>
              <a:latin typeface="Arial"/>
            </a:endParaRPr>
          </a:p>
        </p:txBody>
      </p:sp>
      <p:cxnSp>
        <p:nvCxnSpPr>
          <p:cNvPr id="135" name="Connector 4"/>
          <p:cNvCxnSpPr/>
          <p:nvPr/>
        </p:nvCxnSpPr>
        <p:spPr>
          <a:xfrm>
            <a:off x="566640" y="1481040"/>
            <a:ext cx="11046600" cy="360"/>
          </a:xfrm>
          <a:prstGeom prst="straightConnector1">
            <a:avLst/>
          </a:prstGeom>
          <a:ln w="10160">
            <a:solidFill>
              <a:srgbClr val="DCE5F0"/>
            </a:solidFill>
            <a:round/>
          </a:ln>
        </p:spPr>
      </p:cxnSp>
      <p:sp>
        <p:nvSpPr>
          <p:cNvPr id="136"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03</a:t>
            </a:r>
            <a:endParaRPr lang="en-US" sz="800" b="0" u="none" strike="noStrike">
              <a:solidFill>
                <a:srgbClr val="000000"/>
              </a:solidFill>
              <a:effectLst/>
              <a:uFillTx/>
              <a:latin typeface="Arial"/>
            </a:endParaRPr>
          </a:p>
        </p:txBody>
      </p:sp>
      <p:sp>
        <p:nvSpPr>
          <p:cNvPr id="137"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138" name="Rounded Rectangle 7"/>
          <p:cNvSpPr/>
          <p:nvPr/>
        </p:nvSpPr>
        <p:spPr>
          <a:xfrm>
            <a:off x="685800" y="2084760"/>
            <a:ext cx="1682280" cy="237708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9" name="Oval 8"/>
          <p:cNvSpPr/>
          <p:nvPr/>
        </p:nvSpPr>
        <p:spPr>
          <a:xfrm>
            <a:off x="850320" y="2277000"/>
            <a:ext cx="319680" cy="319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extBox 9"/>
          <p:cNvSpPr/>
          <p:nvPr/>
        </p:nvSpPr>
        <p:spPr>
          <a:xfrm>
            <a:off x="850320" y="2331720"/>
            <a:ext cx="319680" cy="1458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1</a:t>
            </a:r>
            <a:endParaRPr lang="en-US" sz="800" b="0" u="none" strike="noStrike">
              <a:solidFill>
                <a:srgbClr val="000000"/>
              </a:solidFill>
              <a:effectLst/>
              <a:uFillTx/>
              <a:latin typeface="Arial"/>
            </a:endParaRPr>
          </a:p>
        </p:txBody>
      </p:sp>
      <p:sp>
        <p:nvSpPr>
          <p:cNvPr id="141" name="TextBox 10"/>
          <p:cNvSpPr/>
          <p:nvPr/>
        </p:nvSpPr>
        <p:spPr>
          <a:xfrm>
            <a:off x="850320" y="2743200"/>
            <a:ext cx="13528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1. RECORD</a:t>
            </a:r>
            <a:endParaRPr lang="en-US" sz="900" b="0" u="none" strike="noStrike">
              <a:solidFill>
                <a:srgbClr val="000000"/>
              </a:solidFill>
              <a:effectLst/>
              <a:uFillTx/>
              <a:latin typeface="Arial"/>
            </a:endParaRPr>
          </a:p>
        </p:txBody>
      </p:sp>
      <p:sp>
        <p:nvSpPr>
          <p:cNvPr id="142" name="TextBox 11"/>
          <p:cNvSpPr/>
          <p:nvPr/>
        </p:nvSpPr>
        <p:spPr>
          <a:xfrm>
            <a:off x="850320" y="3099960"/>
            <a:ext cx="1343880" cy="502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Sales • recipes • prices • stock</a:t>
            </a:r>
            <a:endParaRPr lang="en-US" sz="1200" b="0" u="none" strike="noStrike">
              <a:solidFill>
                <a:srgbClr val="000000"/>
              </a:solidFill>
              <a:effectLst/>
              <a:uFillTx/>
              <a:latin typeface="Arial"/>
            </a:endParaRPr>
          </a:p>
        </p:txBody>
      </p:sp>
      <p:sp>
        <p:nvSpPr>
          <p:cNvPr id="143" name="TextBox 12"/>
          <p:cNvSpPr/>
          <p:nvPr/>
        </p:nvSpPr>
        <p:spPr>
          <a:xfrm>
            <a:off x="850320" y="3703320"/>
            <a:ext cx="1352880" cy="575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Capture daily servings, recipes and ingredient quantities, purchase costs, and dated stock batches.</a:t>
            </a:r>
            <a:endParaRPr lang="en-US" sz="900" b="0" u="none" strike="noStrike">
              <a:solidFill>
                <a:srgbClr val="000000"/>
              </a:solidFill>
              <a:effectLst/>
              <a:uFillTx/>
              <a:latin typeface="Arial"/>
            </a:endParaRPr>
          </a:p>
        </p:txBody>
      </p:sp>
      <p:cxnSp>
        <p:nvCxnSpPr>
          <p:cNvPr id="144" name="Connector 13"/>
          <p:cNvCxnSpPr/>
          <p:nvPr/>
        </p:nvCxnSpPr>
        <p:spPr>
          <a:xfrm>
            <a:off x="2386440" y="3255120"/>
            <a:ext cx="558000" cy="360"/>
          </a:xfrm>
          <a:prstGeom prst="straightConnector1">
            <a:avLst/>
          </a:prstGeom>
          <a:ln w="20320">
            <a:solidFill>
              <a:srgbClr val="B8CCE7"/>
            </a:solidFill>
            <a:round/>
          </a:ln>
        </p:spPr>
      </p:cxnSp>
      <p:sp>
        <p:nvSpPr>
          <p:cNvPr id="145" name="Rounded Rectangle 14"/>
          <p:cNvSpPr/>
          <p:nvPr/>
        </p:nvSpPr>
        <p:spPr>
          <a:xfrm>
            <a:off x="2971800" y="2084760"/>
            <a:ext cx="1682280" cy="2377080"/>
          </a:xfrm>
          <a:prstGeom prst="roundRect">
            <a:avLst>
              <a:gd name="adj" fmla="val 12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Oval 15"/>
          <p:cNvSpPr/>
          <p:nvPr/>
        </p:nvSpPr>
        <p:spPr>
          <a:xfrm>
            <a:off x="3136320" y="2277000"/>
            <a:ext cx="319680" cy="319680"/>
          </a:xfrm>
          <a:prstGeom prst="ellipse">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7" name="TextBox 16"/>
          <p:cNvSpPr/>
          <p:nvPr/>
        </p:nvSpPr>
        <p:spPr>
          <a:xfrm>
            <a:off x="3136320" y="2331720"/>
            <a:ext cx="319680" cy="1458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FFFFFF"/>
                </a:solidFill>
                <a:effectLst/>
                <a:uFillTx/>
                <a:latin typeface="Noto Sans"/>
              </a:rPr>
              <a:t>2</a:t>
            </a:r>
            <a:endParaRPr lang="en-US" sz="800" b="0" u="none" strike="noStrike">
              <a:solidFill>
                <a:srgbClr val="000000"/>
              </a:solidFill>
              <a:effectLst/>
              <a:uFillTx/>
              <a:latin typeface="Arial"/>
            </a:endParaRPr>
          </a:p>
        </p:txBody>
      </p:sp>
      <p:sp>
        <p:nvSpPr>
          <p:cNvPr id="148" name="TextBox 17"/>
          <p:cNvSpPr/>
          <p:nvPr/>
        </p:nvSpPr>
        <p:spPr>
          <a:xfrm>
            <a:off x="3136320" y="2743200"/>
            <a:ext cx="13528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FFFFFF"/>
                </a:solidFill>
                <a:effectLst/>
                <a:uFillTx/>
                <a:latin typeface="Noto Sans"/>
              </a:rPr>
              <a:t>2. FORECAST</a:t>
            </a:r>
            <a:endParaRPr lang="en-US" sz="900" b="0" u="none" strike="noStrike">
              <a:solidFill>
                <a:srgbClr val="000000"/>
              </a:solidFill>
              <a:effectLst/>
              <a:uFillTx/>
              <a:latin typeface="Arial"/>
            </a:endParaRPr>
          </a:p>
        </p:txBody>
      </p:sp>
      <p:sp>
        <p:nvSpPr>
          <p:cNvPr id="149" name="TextBox 18"/>
          <p:cNvSpPr/>
          <p:nvPr/>
        </p:nvSpPr>
        <p:spPr>
          <a:xfrm>
            <a:off x="3136320" y="3099960"/>
            <a:ext cx="1343880" cy="502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One day ahead</a:t>
            </a:r>
            <a:endParaRPr lang="en-US" sz="1200" b="0" u="none" strike="noStrike">
              <a:solidFill>
                <a:srgbClr val="000000"/>
              </a:solidFill>
              <a:effectLst/>
              <a:uFillTx/>
              <a:latin typeface="Arial"/>
            </a:endParaRPr>
          </a:p>
        </p:txBody>
      </p:sp>
      <p:sp>
        <p:nvSpPr>
          <p:cNvPr id="150" name="TextBox 19"/>
          <p:cNvSpPr/>
          <p:nvPr/>
        </p:nvSpPr>
        <p:spPr>
          <a:xfrm>
            <a:off x="3136320" y="3703320"/>
            <a:ext cx="1352880" cy="575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FFFFFF"/>
                </a:solidFill>
                <a:effectLst/>
                <a:uFillTx/>
                <a:latin typeface="Noto Sans"/>
              </a:rPr>
              <a:t>Estimate next-day servings for five menu items from a complete seven-day history.</a:t>
            </a:r>
            <a:endParaRPr lang="en-US" sz="900" b="0" u="none" strike="noStrike">
              <a:solidFill>
                <a:srgbClr val="000000"/>
              </a:solidFill>
              <a:effectLst/>
              <a:uFillTx/>
              <a:latin typeface="Arial"/>
            </a:endParaRPr>
          </a:p>
        </p:txBody>
      </p:sp>
      <p:cxnSp>
        <p:nvCxnSpPr>
          <p:cNvPr id="151" name="Connector 20"/>
          <p:cNvCxnSpPr/>
          <p:nvPr/>
        </p:nvCxnSpPr>
        <p:spPr>
          <a:xfrm>
            <a:off x="4672440" y="3255120"/>
            <a:ext cx="558000" cy="360"/>
          </a:xfrm>
          <a:prstGeom prst="straightConnector1">
            <a:avLst/>
          </a:prstGeom>
          <a:ln w="20320">
            <a:solidFill>
              <a:srgbClr val="B8CCE7"/>
            </a:solidFill>
            <a:round/>
          </a:ln>
        </p:spPr>
      </p:cxnSp>
      <p:sp>
        <p:nvSpPr>
          <p:cNvPr id="152" name="Rounded Rectangle 21"/>
          <p:cNvSpPr/>
          <p:nvPr/>
        </p:nvSpPr>
        <p:spPr>
          <a:xfrm>
            <a:off x="5257800" y="2084760"/>
            <a:ext cx="1682280" cy="237708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3" name="Oval 22"/>
          <p:cNvSpPr/>
          <p:nvPr/>
        </p:nvSpPr>
        <p:spPr>
          <a:xfrm>
            <a:off x="5422320" y="2277000"/>
            <a:ext cx="319680" cy="31968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 name="TextBox 23"/>
          <p:cNvSpPr/>
          <p:nvPr/>
        </p:nvSpPr>
        <p:spPr>
          <a:xfrm>
            <a:off x="5422320" y="2331720"/>
            <a:ext cx="319680" cy="1458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2563EB"/>
                </a:solidFill>
                <a:effectLst/>
                <a:uFillTx/>
                <a:latin typeface="Noto Sans"/>
              </a:rPr>
              <a:t>3</a:t>
            </a:r>
            <a:endParaRPr lang="en-US" sz="800" b="0" u="none" strike="noStrike">
              <a:solidFill>
                <a:srgbClr val="000000"/>
              </a:solidFill>
              <a:effectLst/>
              <a:uFillTx/>
              <a:latin typeface="Arial"/>
            </a:endParaRPr>
          </a:p>
        </p:txBody>
      </p:sp>
      <p:sp>
        <p:nvSpPr>
          <p:cNvPr id="155" name="TextBox 24"/>
          <p:cNvSpPr/>
          <p:nvPr/>
        </p:nvSpPr>
        <p:spPr>
          <a:xfrm>
            <a:off x="5422320" y="2743200"/>
            <a:ext cx="13528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3. TRANSLATE</a:t>
            </a:r>
            <a:endParaRPr lang="en-US" sz="900" b="0" u="none" strike="noStrike">
              <a:solidFill>
                <a:srgbClr val="000000"/>
              </a:solidFill>
              <a:effectLst/>
              <a:uFillTx/>
              <a:latin typeface="Arial"/>
            </a:endParaRPr>
          </a:p>
        </p:txBody>
      </p:sp>
      <p:sp>
        <p:nvSpPr>
          <p:cNvPr id="156" name="TextBox 25"/>
          <p:cNvSpPr/>
          <p:nvPr/>
        </p:nvSpPr>
        <p:spPr>
          <a:xfrm>
            <a:off x="5422320" y="3099960"/>
            <a:ext cx="1343880" cy="502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Menu servings → ingredients</a:t>
            </a:r>
            <a:endParaRPr lang="en-US" sz="1200" b="0" u="none" strike="noStrike">
              <a:solidFill>
                <a:srgbClr val="000000"/>
              </a:solidFill>
              <a:effectLst/>
              <a:uFillTx/>
              <a:latin typeface="Arial"/>
            </a:endParaRPr>
          </a:p>
        </p:txBody>
      </p:sp>
      <p:sp>
        <p:nvSpPr>
          <p:cNvPr id="157" name="TextBox 26"/>
          <p:cNvSpPr/>
          <p:nvPr/>
        </p:nvSpPr>
        <p:spPr>
          <a:xfrm>
            <a:off x="5422320" y="3703320"/>
            <a:ext cx="1352880" cy="575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Scale each recipe to planned servings and aggregate ingredient requirements.</a:t>
            </a:r>
            <a:endParaRPr lang="en-US" sz="900" b="0" u="none" strike="noStrike">
              <a:solidFill>
                <a:srgbClr val="000000"/>
              </a:solidFill>
              <a:effectLst/>
              <a:uFillTx/>
              <a:latin typeface="Arial"/>
            </a:endParaRPr>
          </a:p>
        </p:txBody>
      </p:sp>
      <p:cxnSp>
        <p:nvCxnSpPr>
          <p:cNvPr id="158" name="Connector 27"/>
          <p:cNvCxnSpPr/>
          <p:nvPr/>
        </p:nvCxnSpPr>
        <p:spPr>
          <a:xfrm>
            <a:off x="6958440" y="3255120"/>
            <a:ext cx="558000" cy="360"/>
          </a:xfrm>
          <a:prstGeom prst="straightConnector1">
            <a:avLst/>
          </a:prstGeom>
          <a:ln w="20320">
            <a:solidFill>
              <a:srgbClr val="B8CCE7"/>
            </a:solidFill>
            <a:round/>
          </a:ln>
        </p:spPr>
      </p:cxnSp>
      <p:sp>
        <p:nvSpPr>
          <p:cNvPr id="159" name="Rounded Rectangle 28"/>
          <p:cNvSpPr/>
          <p:nvPr/>
        </p:nvSpPr>
        <p:spPr>
          <a:xfrm>
            <a:off x="7543800" y="2084760"/>
            <a:ext cx="1682280" cy="237708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Oval 29"/>
          <p:cNvSpPr/>
          <p:nvPr/>
        </p:nvSpPr>
        <p:spPr>
          <a:xfrm>
            <a:off x="7708320" y="2277000"/>
            <a:ext cx="319680" cy="31968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1" name="TextBox 30"/>
          <p:cNvSpPr/>
          <p:nvPr/>
        </p:nvSpPr>
        <p:spPr>
          <a:xfrm>
            <a:off x="7708320" y="2331720"/>
            <a:ext cx="319680" cy="1458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167C5A"/>
                </a:solidFill>
                <a:effectLst/>
                <a:uFillTx/>
                <a:latin typeface="Noto Sans"/>
              </a:rPr>
              <a:t>4</a:t>
            </a:r>
            <a:endParaRPr lang="en-US" sz="800" b="0" u="none" strike="noStrike">
              <a:solidFill>
                <a:srgbClr val="000000"/>
              </a:solidFill>
              <a:effectLst/>
              <a:uFillTx/>
              <a:latin typeface="Arial"/>
            </a:endParaRPr>
          </a:p>
        </p:txBody>
      </p:sp>
      <p:sp>
        <p:nvSpPr>
          <p:cNvPr id="162" name="TextBox 31"/>
          <p:cNvSpPr/>
          <p:nvPr/>
        </p:nvSpPr>
        <p:spPr>
          <a:xfrm>
            <a:off x="7708320" y="2743200"/>
            <a:ext cx="13528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4. RECONCILE</a:t>
            </a:r>
            <a:endParaRPr lang="en-US" sz="900" b="0" u="none" strike="noStrike">
              <a:solidFill>
                <a:srgbClr val="000000"/>
              </a:solidFill>
              <a:effectLst/>
              <a:uFillTx/>
              <a:latin typeface="Arial"/>
            </a:endParaRPr>
          </a:p>
        </p:txBody>
      </p:sp>
      <p:sp>
        <p:nvSpPr>
          <p:cNvPr id="163" name="TextBox 32"/>
          <p:cNvSpPr/>
          <p:nvPr/>
        </p:nvSpPr>
        <p:spPr>
          <a:xfrm>
            <a:off x="7708320" y="3099960"/>
            <a:ext cx="1343880" cy="502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Need • available • shortage</a:t>
            </a:r>
            <a:endParaRPr lang="en-US" sz="1200" b="0" u="none" strike="noStrike">
              <a:solidFill>
                <a:srgbClr val="000000"/>
              </a:solidFill>
              <a:effectLst/>
              <a:uFillTx/>
              <a:latin typeface="Arial"/>
            </a:endParaRPr>
          </a:p>
        </p:txBody>
      </p:sp>
      <p:sp>
        <p:nvSpPr>
          <p:cNvPr id="164" name="TextBox 33"/>
          <p:cNvSpPr/>
          <p:nvPr/>
        </p:nvSpPr>
        <p:spPr>
          <a:xfrm>
            <a:off x="7708320" y="3703320"/>
            <a:ext cx="1352880" cy="575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Compare requirements with positive, usable inventory and show purchase pack guidance.</a:t>
            </a:r>
            <a:endParaRPr lang="en-US" sz="900" b="0" u="none" strike="noStrike">
              <a:solidFill>
                <a:srgbClr val="000000"/>
              </a:solidFill>
              <a:effectLst/>
              <a:uFillTx/>
              <a:latin typeface="Arial"/>
            </a:endParaRPr>
          </a:p>
        </p:txBody>
      </p:sp>
      <p:cxnSp>
        <p:nvCxnSpPr>
          <p:cNvPr id="165" name="Connector 34"/>
          <p:cNvCxnSpPr/>
          <p:nvPr/>
        </p:nvCxnSpPr>
        <p:spPr>
          <a:xfrm>
            <a:off x="9244440" y="3255120"/>
            <a:ext cx="558000" cy="360"/>
          </a:xfrm>
          <a:prstGeom prst="straightConnector1">
            <a:avLst/>
          </a:prstGeom>
          <a:ln w="20320">
            <a:solidFill>
              <a:srgbClr val="B8CCE7"/>
            </a:solidFill>
            <a:round/>
          </a:ln>
        </p:spPr>
      </p:cxnSp>
      <p:sp>
        <p:nvSpPr>
          <p:cNvPr id="166" name="Rounded Rectangle 35"/>
          <p:cNvSpPr/>
          <p:nvPr/>
        </p:nvSpPr>
        <p:spPr>
          <a:xfrm>
            <a:off x="9829800" y="2084760"/>
            <a:ext cx="1682280" cy="2377080"/>
          </a:xfrm>
          <a:prstGeom prst="roundRect">
            <a:avLst>
              <a:gd name="adj" fmla="val 12000"/>
            </a:avLst>
          </a:prstGeom>
          <a:solidFill>
            <a:srgbClr val="F1EC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7" name="Oval 36"/>
          <p:cNvSpPr/>
          <p:nvPr/>
        </p:nvSpPr>
        <p:spPr>
          <a:xfrm>
            <a:off x="9994320" y="2277000"/>
            <a:ext cx="319680" cy="319680"/>
          </a:xfrm>
          <a:prstGeom prst="ellipse">
            <a:avLst/>
          </a:prstGeom>
          <a:solidFill>
            <a:srgbClr val="6941C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37"/>
          <p:cNvSpPr/>
          <p:nvPr/>
        </p:nvSpPr>
        <p:spPr>
          <a:xfrm>
            <a:off x="9994320" y="2331720"/>
            <a:ext cx="319680" cy="1458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800" b="1" u="none" strike="noStrike">
                <a:solidFill>
                  <a:srgbClr val="6941C6"/>
                </a:solidFill>
                <a:effectLst/>
                <a:uFillTx/>
                <a:latin typeface="Noto Sans"/>
              </a:rPr>
              <a:t>5</a:t>
            </a:r>
            <a:endParaRPr lang="en-US" sz="800" b="0" u="none" strike="noStrike">
              <a:solidFill>
                <a:srgbClr val="000000"/>
              </a:solidFill>
              <a:effectLst/>
              <a:uFillTx/>
              <a:latin typeface="Arial"/>
            </a:endParaRPr>
          </a:p>
        </p:txBody>
      </p:sp>
      <p:sp>
        <p:nvSpPr>
          <p:cNvPr id="169" name="TextBox 38"/>
          <p:cNvSpPr/>
          <p:nvPr/>
        </p:nvSpPr>
        <p:spPr>
          <a:xfrm>
            <a:off x="9994320" y="2743200"/>
            <a:ext cx="13528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6941C6"/>
                </a:solidFill>
                <a:effectLst/>
                <a:uFillTx/>
                <a:latin typeface="Noto Sans"/>
              </a:rPr>
              <a:t>5. REVIEW</a:t>
            </a:r>
            <a:endParaRPr lang="en-US" sz="900" b="0" u="none" strike="noStrike">
              <a:solidFill>
                <a:srgbClr val="000000"/>
              </a:solidFill>
              <a:effectLst/>
              <a:uFillTx/>
              <a:latin typeface="Arial"/>
            </a:endParaRPr>
          </a:p>
        </p:txBody>
      </p:sp>
      <p:sp>
        <p:nvSpPr>
          <p:cNvPr id="170" name="TextBox 39"/>
          <p:cNvSpPr/>
          <p:nvPr/>
        </p:nvSpPr>
        <p:spPr>
          <a:xfrm>
            <a:off x="9994320" y="3099960"/>
            <a:ext cx="1343880" cy="502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1" u="none" strike="noStrike">
                <a:solidFill>
                  <a:srgbClr val="172B4D"/>
                </a:solidFill>
                <a:effectLst/>
                <a:uFillTx/>
                <a:latin typeface="Noto Sans"/>
              </a:rPr>
              <a:t>Draft → approved</a:t>
            </a:r>
            <a:endParaRPr lang="en-US" sz="1200" b="0" u="none" strike="noStrike">
              <a:solidFill>
                <a:srgbClr val="000000"/>
              </a:solidFill>
              <a:effectLst/>
              <a:uFillTx/>
              <a:latin typeface="Arial"/>
            </a:endParaRPr>
          </a:p>
        </p:txBody>
      </p:sp>
      <p:sp>
        <p:nvSpPr>
          <p:cNvPr id="171" name="TextBox 40"/>
          <p:cNvSpPr/>
          <p:nvPr/>
        </p:nvSpPr>
        <p:spPr>
          <a:xfrm>
            <a:off x="9994320" y="3703320"/>
            <a:ext cx="1352880" cy="575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Let the operator adjust quantities and confirm stock checks before owner approval.</a:t>
            </a:r>
            <a:endParaRPr lang="en-US" sz="900" b="0" u="none" strike="noStrike">
              <a:solidFill>
                <a:srgbClr val="000000"/>
              </a:solidFill>
              <a:effectLst/>
              <a:uFillTx/>
              <a:latin typeface="Arial"/>
            </a:endParaRPr>
          </a:p>
        </p:txBody>
      </p:sp>
      <p:sp>
        <p:nvSpPr>
          <p:cNvPr id="172" name="Rounded Rectangle 41"/>
          <p:cNvSpPr/>
          <p:nvPr/>
        </p:nvSpPr>
        <p:spPr>
          <a:xfrm>
            <a:off x="713160" y="4846320"/>
            <a:ext cx="10789560" cy="94140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3" name="TextBox 42"/>
          <p:cNvSpPr/>
          <p:nvPr/>
        </p:nvSpPr>
        <p:spPr>
          <a:xfrm>
            <a:off x="987480" y="5065920"/>
            <a:ext cx="1014948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1" u="none" strike="noStrike">
                <a:solidFill>
                  <a:srgbClr val="2563EB"/>
                </a:solidFill>
                <a:effectLst/>
                <a:uFillTx/>
                <a:latin typeface="Noto Sans"/>
              </a:rPr>
              <a:t>THE RESULT: </a:t>
            </a:r>
            <a:r>
              <a:rPr lang="en-US" sz="1300" b="1" u="none" strike="noStrike">
                <a:solidFill>
                  <a:srgbClr val="172B4D"/>
                </a:solidFill>
                <a:effectLst/>
                <a:uFillTx/>
                <a:latin typeface="Noto Sans"/>
              </a:rPr>
              <a:t>a traceable preparation decision that a person can review—not an automatic order or stock deduction.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174"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03 / PRODUCT WALKTHROUGH</a:t>
            </a:r>
            <a:endParaRPr lang="en-US" sz="800" b="0" u="none" strike="noStrike">
              <a:solidFill>
                <a:srgbClr val="000000"/>
              </a:solidFill>
              <a:effectLst/>
              <a:uFillTx/>
              <a:latin typeface="Arial"/>
            </a:endParaRPr>
          </a:p>
        </p:txBody>
      </p:sp>
      <p:sp>
        <p:nvSpPr>
          <p:cNvPr id="175"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What the operator sees—and decides</a:t>
            </a:r>
            <a:endParaRPr lang="en-US" sz="2500" b="0" u="none" strike="noStrike">
              <a:solidFill>
                <a:srgbClr val="000000"/>
              </a:solidFill>
              <a:effectLst/>
              <a:uFillTx/>
              <a:latin typeface="Arial"/>
            </a:endParaRPr>
          </a:p>
        </p:txBody>
      </p:sp>
      <p:sp>
        <p:nvSpPr>
          <p:cNvPr id="176"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A practical demo path: enter history, inspect demand, adjust the plan, then approve.</a:t>
            </a:r>
            <a:endParaRPr lang="en-US" sz="1100" b="0" u="none" strike="noStrike">
              <a:solidFill>
                <a:srgbClr val="000000"/>
              </a:solidFill>
              <a:effectLst/>
              <a:uFillTx/>
              <a:latin typeface="Arial"/>
            </a:endParaRPr>
          </a:p>
        </p:txBody>
      </p:sp>
      <p:cxnSp>
        <p:nvCxnSpPr>
          <p:cNvPr id="177" name="Connector 4"/>
          <p:cNvCxnSpPr/>
          <p:nvPr/>
        </p:nvCxnSpPr>
        <p:spPr>
          <a:xfrm>
            <a:off x="566640" y="1481040"/>
            <a:ext cx="11046600" cy="360"/>
          </a:xfrm>
          <a:prstGeom prst="straightConnector1">
            <a:avLst/>
          </a:prstGeom>
          <a:ln w="10160">
            <a:solidFill>
              <a:srgbClr val="DCE5F0"/>
            </a:solidFill>
            <a:round/>
          </a:ln>
        </p:spPr>
      </p:cxnSp>
      <p:sp>
        <p:nvSpPr>
          <p:cNvPr id="178"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04</a:t>
            </a:r>
            <a:endParaRPr lang="en-US" sz="800" b="0" u="none" strike="noStrike">
              <a:solidFill>
                <a:srgbClr val="000000"/>
              </a:solidFill>
              <a:effectLst/>
              <a:uFillTx/>
              <a:latin typeface="Arial"/>
            </a:endParaRPr>
          </a:p>
        </p:txBody>
      </p:sp>
      <p:sp>
        <p:nvSpPr>
          <p:cNvPr id="179"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180" name="Rounded Rectangle 7"/>
          <p:cNvSpPr/>
          <p:nvPr/>
        </p:nvSpPr>
        <p:spPr>
          <a:xfrm>
            <a:off x="704160" y="1774080"/>
            <a:ext cx="664740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1" name="TextBox 8"/>
          <p:cNvSpPr/>
          <p:nvPr/>
        </p:nvSpPr>
        <p:spPr>
          <a:xfrm>
            <a:off x="932760" y="1993320"/>
            <a:ext cx="612612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TOMORROW'S PLAN  /  WORKSPACE FLOW</a:t>
            </a:r>
            <a:endParaRPr lang="en-US" sz="900" b="0" u="none" strike="noStrike">
              <a:solidFill>
                <a:srgbClr val="000000"/>
              </a:solidFill>
              <a:effectLst/>
              <a:uFillTx/>
              <a:latin typeface="Arial"/>
            </a:endParaRPr>
          </a:p>
        </p:txBody>
      </p:sp>
      <p:sp>
        <p:nvSpPr>
          <p:cNvPr id="182" name="Rounded Rectangle 9"/>
          <p:cNvSpPr/>
          <p:nvPr/>
        </p:nvSpPr>
        <p:spPr>
          <a:xfrm>
            <a:off x="932760" y="2404800"/>
            <a:ext cx="6162840" cy="402120"/>
          </a:xfrm>
          <a:prstGeom prst="roundRect">
            <a:avLst>
              <a:gd name="adj" fmla="val 12000"/>
            </a:avLst>
          </a:prstGeom>
          <a:solidFill>
            <a:srgbClr val="EFF5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3" name="TextBox 10"/>
          <p:cNvSpPr/>
          <p:nvPr/>
        </p:nvSpPr>
        <p:spPr>
          <a:xfrm>
            <a:off x="1097280" y="2505600"/>
            <a:ext cx="393156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Forecast history complete • model ready</a:t>
            </a:r>
            <a:endParaRPr lang="en-US" sz="900" b="0" u="none" strike="noStrike">
              <a:solidFill>
                <a:srgbClr val="000000"/>
              </a:solidFill>
              <a:effectLst/>
              <a:uFillTx/>
              <a:latin typeface="Arial"/>
            </a:endParaRPr>
          </a:p>
        </p:txBody>
      </p:sp>
      <p:sp>
        <p:nvSpPr>
          <p:cNvPr id="184" name="Rounded Rectangle 11"/>
          <p:cNvSpPr/>
          <p:nvPr/>
        </p:nvSpPr>
        <p:spPr>
          <a:xfrm>
            <a:off x="5577840" y="2468880"/>
            <a:ext cx="127980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5" name="TextBox 12"/>
          <p:cNvSpPr/>
          <p:nvPr/>
        </p:nvSpPr>
        <p:spPr>
          <a:xfrm>
            <a:off x="5632560" y="2491920"/>
            <a:ext cx="117000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2563EB"/>
                </a:solidFill>
                <a:effectLst/>
                <a:uFillTx/>
                <a:latin typeface="Noto Sans"/>
              </a:rPr>
              <a:t>5 MENU ITEMS</a:t>
            </a:r>
            <a:endParaRPr lang="en-US" sz="700" b="0" u="none" strike="noStrike">
              <a:solidFill>
                <a:srgbClr val="000000"/>
              </a:solidFill>
              <a:effectLst/>
              <a:uFillTx/>
              <a:latin typeface="Arial"/>
            </a:endParaRPr>
          </a:p>
        </p:txBody>
      </p:sp>
      <p:sp>
        <p:nvSpPr>
          <p:cNvPr id="186" name="TextBox 13"/>
          <p:cNvSpPr/>
          <p:nvPr/>
        </p:nvSpPr>
        <p:spPr>
          <a:xfrm>
            <a:off x="1078920" y="2962800"/>
            <a:ext cx="1234080" cy="191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MENU</a:t>
            </a:r>
            <a:endParaRPr lang="en-US" sz="700" b="0" u="none" strike="noStrike">
              <a:solidFill>
                <a:srgbClr val="000000"/>
              </a:solidFill>
              <a:effectLst/>
              <a:uFillTx/>
              <a:latin typeface="Arial"/>
            </a:endParaRPr>
          </a:p>
        </p:txBody>
      </p:sp>
      <p:sp>
        <p:nvSpPr>
          <p:cNvPr id="187" name="TextBox 14"/>
          <p:cNvSpPr/>
          <p:nvPr/>
        </p:nvSpPr>
        <p:spPr>
          <a:xfrm>
            <a:off x="2907720" y="2962800"/>
            <a:ext cx="1234080" cy="191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FORECAST</a:t>
            </a:r>
            <a:endParaRPr lang="en-US" sz="700" b="0" u="none" strike="noStrike">
              <a:solidFill>
                <a:srgbClr val="000000"/>
              </a:solidFill>
              <a:effectLst/>
              <a:uFillTx/>
              <a:latin typeface="Arial"/>
            </a:endParaRPr>
          </a:p>
        </p:txBody>
      </p:sp>
      <p:sp>
        <p:nvSpPr>
          <p:cNvPr id="188" name="TextBox 15"/>
          <p:cNvSpPr/>
          <p:nvPr/>
        </p:nvSpPr>
        <p:spPr>
          <a:xfrm>
            <a:off x="4096440" y="2962800"/>
            <a:ext cx="1234080" cy="191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PREP</a:t>
            </a:r>
            <a:endParaRPr lang="en-US" sz="700" b="0" u="none" strike="noStrike">
              <a:solidFill>
                <a:srgbClr val="000000"/>
              </a:solidFill>
              <a:effectLst/>
              <a:uFillTx/>
              <a:latin typeface="Arial"/>
            </a:endParaRPr>
          </a:p>
        </p:txBody>
      </p:sp>
      <p:sp>
        <p:nvSpPr>
          <p:cNvPr id="189" name="TextBox 16"/>
          <p:cNvSpPr/>
          <p:nvPr/>
        </p:nvSpPr>
        <p:spPr>
          <a:xfrm>
            <a:off x="5074920" y="2962800"/>
            <a:ext cx="1234080" cy="191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NEED / STOCK</a:t>
            </a:r>
            <a:endParaRPr lang="en-US" sz="700" b="0" u="none" strike="noStrike">
              <a:solidFill>
                <a:srgbClr val="000000"/>
              </a:solidFill>
              <a:effectLst/>
              <a:uFillTx/>
              <a:latin typeface="Arial"/>
            </a:endParaRPr>
          </a:p>
        </p:txBody>
      </p:sp>
      <p:sp>
        <p:nvSpPr>
          <p:cNvPr id="190" name="TextBox 17"/>
          <p:cNvSpPr/>
          <p:nvPr/>
        </p:nvSpPr>
        <p:spPr>
          <a:xfrm>
            <a:off x="6309360" y="2962800"/>
            <a:ext cx="1234080" cy="191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STATUS</a:t>
            </a:r>
            <a:endParaRPr lang="en-US" sz="700" b="0" u="none" strike="noStrike">
              <a:solidFill>
                <a:srgbClr val="000000"/>
              </a:solidFill>
              <a:effectLst/>
              <a:uFillTx/>
              <a:latin typeface="Arial"/>
            </a:endParaRPr>
          </a:p>
        </p:txBody>
      </p:sp>
      <p:cxnSp>
        <p:nvCxnSpPr>
          <p:cNvPr id="191" name="Connector 18"/>
          <p:cNvCxnSpPr/>
          <p:nvPr/>
        </p:nvCxnSpPr>
        <p:spPr>
          <a:xfrm>
            <a:off x="969120" y="3209400"/>
            <a:ext cx="6099480" cy="360"/>
          </a:xfrm>
          <a:prstGeom prst="straightConnector1">
            <a:avLst/>
          </a:prstGeom>
          <a:ln w="6350">
            <a:solidFill>
              <a:srgbClr val="DCE5F0"/>
            </a:solidFill>
            <a:round/>
          </a:ln>
        </p:spPr>
      </p:cxnSp>
      <p:sp>
        <p:nvSpPr>
          <p:cNvPr id="192" name="TextBox 19"/>
          <p:cNvSpPr/>
          <p:nvPr/>
        </p:nvSpPr>
        <p:spPr>
          <a:xfrm>
            <a:off x="1078920" y="3291840"/>
            <a:ext cx="16912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Chicken rice</a:t>
            </a:r>
            <a:endParaRPr lang="en-US" sz="900" b="0" u="none" strike="noStrike">
              <a:solidFill>
                <a:srgbClr val="000000"/>
              </a:solidFill>
              <a:effectLst/>
              <a:uFillTx/>
              <a:latin typeface="Arial"/>
            </a:endParaRPr>
          </a:p>
        </p:txBody>
      </p:sp>
      <p:sp>
        <p:nvSpPr>
          <p:cNvPr id="193" name="TextBox 20"/>
          <p:cNvSpPr/>
          <p:nvPr/>
        </p:nvSpPr>
        <p:spPr>
          <a:xfrm>
            <a:off x="2962800" y="3291840"/>
            <a:ext cx="86832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36.4</a:t>
            </a:r>
            <a:endParaRPr lang="en-US" sz="900" b="0" u="none" strike="noStrike">
              <a:solidFill>
                <a:srgbClr val="000000"/>
              </a:solidFill>
              <a:effectLst/>
              <a:uFillTx/>
              <a:latin typeface="Arial"/>
            </a:endParaRPr>
          </a:p>
        </p:txBody>
      </p:sp>
      <p:sp>
        <p:nvSpPr>
          <p:cNvPr id="194" name="Rounded Rectangle 21"/>
          <p:cNvSpPr/>
          <p:nvPr/>
        </p:nvSpPr>
        <p:spPr>
          <a:xfrm>
            <a:off x="4069080" y="3250800"/>
            <a:ext cx="585000" cy="282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TextBox 22"/>
          <p:cNvSpPr/>
          <p:nvPr/>
        </p:nvSpPr>
        <p:spPr>
          <a:xfrm>
            <a:off x="4096440" y="3296520"/>
            <a:ext cx="529920" cy="18252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37</a:t>
            </a:r>
            <a:endParaRPr lang="en-US" sz="900" b="0" u="none" strike="noStrike">
              <a:solidFill>
                <a:srgbClr val="000000"/>
              </a:solidFill>
              <a:effectLst/>
              <a:uFillTx/>
              <a:latin typeface="Arial"/>
            </a:endParaRPr>
          </a:p>
        </p:txBody>
      </p:sp>
      <p:sp>
        <p:nvSpPr>
          <p:cNvPr id="196" name="TextBox 23"/>
          <p:cNvSpPr/>
          <p:nvPr/>
        </p:nvSpPr>
        <p:spPr>
          <a:xfrm>
            <a:off x="5056560" y="3291840"/>
            <a:ext cx="12250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Rice · covered</a:t>
            </a:r>
            <a:endParaRPr lang="en-US" sz="800" b="0" u="none" strike="noStrike">
              <a:solidFill>
                <a:srgbClr val="000000"/>
              </a:solidFill>
              <a:effectLst/>
              <a:uFillTx/>
              <a:latin typeface="Arial"/>
            </a:endParaRPr>
          </a:p>
        </p:txBody>
      </p:sp>
      <p:sp>
        <p:nvSpPr>
          <p:cNvPr id="197" name="Rounded Rectangle 24"/>
          <p:cNvSpPr/>
          <p:nvPr/>
        </p:nvSpPr>
        <p:spPr>
          <a:xfrm>
            <a:off x="6309360" y="3259800"/>
            <a:ext cx="667080" cy="2739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8" name="TextBox 25"/>
          <p:cNvSpPr/>
          <p:nvPr/>
        </p:nvSpPr>
        <p:spPr>
          <a:xfrm>
            <a:off x="6364080" y="3282840"/>
            <a:ext cx="5572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167C5A"/>
                </a:solidFill>
                <a:effectLst/>
                <a:uFillTx/>
                <a:latin typeface="Noto Sans"/>
              </a:rPr>
              <a:t>READY</a:t>
            </a:r>
            <a:endParaRPr lang="en-US" sz="700" b="0" u="none" strike="noStrike">
              <a:solidFill>
                <a:srgbClr val="000000"/>
              </a:solidFill>
              <a:effectLst/>
              <a:uFillTx/>
              <a:latin typeface="Arial"/>
            </a:endParaRPr>
          </a:p>
        </p:txBody>
      </p:sp>
      <p:cxnSp>
        <p:nvCxnSpPr>
          <p:cNvPr id="199" name="Connector 26"/>
          <p:cNvCxnSpPr/>
          <p:nvPr/>
        </p:nvCxnSpPr>
        <p:spPr>
          <a:xfrm>
            <a:off x="969120" y="3639240"/>
            <a:ext cx="6099480" cy="360"/>
          </a:xfrm>
          <a:prstGeom prst="straightConnector1">
            <a:avLst/>
          </a:prstGeom>
          <a:ln w="6350">
            <a:solidFill>
              <a:srgbClr val="DCE5F0"/>
            </a:solidFill>
            <a:round/>
          </a:ln>
        </p:spPr>
      </p:cxnSp>
      <p:sp>
        <p:nvSpPr>
          <p:cNvPr id="200" name="TextBox 27"/>
          <p:cNvSpPr/>
          <p:nvPr/>
        </p:nvSpPr>
        <p:spPr>
          <a:xfrm>
            <a:off x="1078920" y="3721680"/>
            <a:ext cx="16912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Kuey teow</a:t>
            </a:r>
            <a:endParaRPr lang="en-US" sz="900" b="0" u="none" strike="noStrike">
              <a:solidFill>
                <a:srgbClr val="000000"/>
              </a:solidFill>
              <a:effectLst/>
              <a:uFillTx/>
              <a:latin typeface="Arial"/>
            </a:endParaRPr>
          </a:p>
        </p:txBody>
      </p:sp>
      <p:sp>
        <p:nvSpPr>
          <p:cNvPr id="201" name="TextBox 28"/>
          <p:cNvSpPr/>
          <p:nvPr/>
        </p:nvSpPr>
        <p:spPr>
          <a:xfrm>
            <a:off x="2962800" y="3721680"/>
            <a:ext cx="86832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29.1</a:t>
            </a:r>
            <a:endParaRPr lang="en-US" sz="900" b="0" u="none" strike="noStrike">
              <a:solidFill>
                <a:srgbClr val="000000"/>
              </a:solidFill>
              <a:effectLst/>
              <a:uFillTx/>
              <a:latin typeface="Arial"/>
            </a:endParaRPr>
          </a:p>
        </p:txBody>
      </p:sp>
      <p:sp>
        <p:nvSpPr>
          <p:cNvPr id="202" name="Rounded Rectangle 29"/>
          <p:cNvSpPr/>
          <p:nvPr/>
        </p:nvSpPr>
        <p:spPr>
          <a:xfrm>
            <a:off x="4069080" y="3680640"/>
            <a:ext cx="585000" cy="282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3" name="TextBox 30"/>
          <p:cNvSpPr/>
          <p:nvPr/>
        </p:nvSpPr>
        <p:spPr>
          <a:xfrm>
            <a:off x="4096440" y="3726360"/>
            <a:ext cx="529920" cy="18252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30</a:t>
            </a:r>
            <a:endParaRPr lang="en-US" sz="900" b="0" u="none" strike="noStrike">
              <a:solidFill>
                <a:srgbClr val="000000"/>
              </a:solidFill>
              <a:effectLst/>
              <a:uFillTx/>
              <a:latin typeface="Arial"/>
            </a:endParaRPr>
          </a:p>
        </p:txBody>
      </p:sp>
      <p:sp>
        <p:nvSpPr>
          <p:cNvPr id="204" name="TextBox 31"/>
          <p:cNvSpPr/>
          <p:nvPr/>
        </p:nvSpPr>
        <p:spPr>
          <a:xfrm>
            <a:off x="5056560" y="3721680"/>
            <a:ext cx="12250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Egg · check</a:t>
            </a:r>
            <a:endParaRPr lang="en-US" sz="800" b="0" u="none" strike="noStrike">
              <a:solidFill>
                <a:srgbClr val="000000"/>
              </a:solidFill>
              <a:effectLst/>
              <a:uFillTx/>
              <a:latin typeface="Arial"/>
            </a:endParaRPr>
          </a:p>
        </p:txBody>
      </p:sp>
      <p:sp>
        <p:nvSpPr>
          <p:cNvPr id="205" name="Rounded Rectangle 32"/>
          <p:cNvSpPr/>
          <p:nvPr/>
        </p:nvSpPr>
        <p:spPr>
          <a:xfrm>
            <a:off x="6309360" y="3689640"/>
            <a:ext cx="667080" cy="2739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6" name="TextBox 33"/>
          <p:cNvSpPr/>
          <p:nvPr/>
        </p:nvSpPr>
        <p:spPr>
          <a:xfrm>
            <a:off x="6364080" y="3712320"/>
            <a:ext cx="5572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A35B09"/>
                </a:solidFill>
                <a:effectLst/>
                <a:uFillTx/>
                <a:latin typeface="Noto Sans"/>
              </a:rPr>
              <a:t>REVIEW</a:t>
            </a:r>
            <a:endParaRPr lang="en-US" sz="700" b="0" u="none" strike="noStrike">
              <a:solidFill>
                <a:srgbClr val="000000"/>
              </a:solidFill>
              <a:effectLst/>
              <a:uFillTx/>
              <a:latin typeface="Arial"/>
            </a:endParaRPr>
          </a:p>
        </p:txBody>
      </p:sp>
      <p:cxnSp>
        <p:nvCxnSpPr>
          <p:cNvPr id="207" name="Connector 34"/>
          <p:cNvCxnSpPr/>
          <p:nvPr/>
        </p:nvCxnSpPr>
        <p:spPr>
          <a:xfrm>
            <a:off x="969120" y="4069080"/>
            <a:ext cx="6099480" cy="360"/>
          </a:xfrm>
          <a:prstGeom prst="straightConnector1">
            <a:avLst/>
          </a:prstGeom>
          <a:ln w="6350">
            <a:solidFill>
              <a:srgbClr val="DCE5F0"/>
            </a:solidFill>
            <a:round/>
          </a:ln>
        </p:spPr>
      </p:cxnSp>
      <p:sp>
        <p:nvSpPr>
          <p:cNvPr id="208" name="TextBox 35"/>
          <p:cNvSpPr/>
          <p:nvPr/>
        </p:nvSpPr>
        <p:spPr>
          <a:xfrm>
            <a:off x="1078920" y="4151520"/>
            <a:ext cx="16912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Nasi lemak</a:t>
            </a:r>
            <a:endParaRPr lang="en-US" sz="900" b="0" u="none" strike="noStrike">
              <a:solidFill>
                <a:srgbClr val="000000"/>
              </a:solidFill>
              <a:effectLst/>
              <a:uFillTx/>
              <a:latin typeface="Arial"/>
            </a:endParaRPr>
          </a:p>
        </p:txBody>
      </p:sp>
      <p:sp>
        <p:nvSpPr>
          <p:cNvPr id="209" name="TextBox 36"/>
          <p:cNvSpPr/>
          <p:nvPr/>
        </p:nvSpPr>
        <p:spPr>
          <a:xfrm>
            <a:off x="2962800" y="4151520"/>
            <a:ext cx="86832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42.8</a:t>
            </a:r>
            <a:endParaRPr lang="en-US" sz="900" b="0" u="none" strike="noStrike">
              <a:solidFill>
                <a:srgbClr val="000000"/>
              </a:solidFill>
              <a:effectLst/>
              <a:uFillTx/>
              <a:latin typeface="Arial"/>
            </a:endParaRPr>
          </a:p>
        </p:txBody>
      </p:sp>
      <p:sp>
        <p:nvSpPr>
          <p:cNvPr id="210" name="Rounded Rectangle 37"/>
          <p:cNvSpPr/>
          <p:nvPr/>
        </p:nvSpPr>
        <p:spPr>
          <a:xfrm>
            <a:off x="4069080" y="4110120"/>
            <a:ext cx="585000" cy="282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1" name="TextBox 38"/>
          <p:cNvSpPr/>
          <p:nvPr/>
        </p:nvSpPr>
        <p:spPr>
          <a:xfrm>
            <a:off x="4096440" y="4155840"/>
            <a:ext cx="529920" cy="18252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43</a:t>
            </a:r>
            <a:endParaRPr lang="en-US" sz="900" b="0" u="none" strike="noStrike">
              <a:solidFill>
                <a:srgbClr val="000000"/>
              </a:solidFill>
              <a:effectLst/>
              <a:uFillTx/>
              <a:latin typeface="Arial"/>
            </a:endParaRPr>
          </a:p>
        </p:txBody>
      </p:sp>
      <p:sp>
        <p:nvSpPr>
          <p:cNvPr id="212" name="TextBox 39"/>
          <p:cNvSpPr/>
          <p:nvPr/>
        </p:nvSpPr>
        <p:spPr>
          <a:xfrm>
            <a:off x="5056560" y="4151520"/>
            <a:ext cx="12250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Coconut · short</a:t>
            </a:r>
            <a:endParaRPr lang="en-US" sz="800" b="0" u="none" strike="noStrike">
              <a:solidFill>
                <a:srgbClr val="000000"/>
              </a:solidFill>
              <a:effectLst/>
              <a:uFillTx/>
              <a:latin typeface="Arial"/>
            </a:endParaRPr>
          </a:p>
        </p:txBody>
      </p:sp>
      <p:sp>
        <p:nvSpPr>
          <p:cNvPr id="213" name="Rounded Rectangle 40"/>
          <p:cNvSpPr/>
          <p:nvPr/>
        </p:nvSpPr>
        <p:spPr>
          <a:xfrm>
            <a:off x="6309360" y="4119480"/>
            <a:ext cx="667080" cy="2739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4" name="TextBox 41"/>
          <p:cNvSpPr/>
          <p:nvPr/>
        </p:nvSpPr>
        <p:spPr>
          <a:xfrm>
            <a:off x="6364080" y="4142160"/>
            <a:ext cx="5572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A35B09"/>
                </a:solidFill>
                <a:effectLst/>
                <a:uFillTx/>
                <a:latin typeface="Noto Sans"/>
              </a:rPr>
              <a:t>BUY</a:t>
            </a:r>
            <a:endParaRPr lang="en-US" sz="700" b="0" u="none" strike="noStrike">
              <a:solidFill>
                <a:srgbClr val="000000"/>
              </a:solidFill>
              <a:effectLst/>
              <a:uFillTx/>
              <a:latin typeface="Arial"/>
            </a:endParaRPr>
          </a:p>
        </p:txBody>
      </p:sp>
      <p:cxnSp>
        <p:nvCxnSpPr>
          <p:cNvPr id="215" name="Connector 42"/>
          <p:cNvCxnSpPr/>
          <p:nvPr/>
        </p:nvCxnSpPr>
        <p:spPr>
          <a:xfrm>
            <a:off x="969120" y="4498560"/>
            <a:ext cx="6099480" cy="360"/>
          </a:xfrm>
          <a:prstGeom prst="straightConnector1">
            <a:avLst/>
          </a:prstGeom>
          <a:ln w="6350">
            <a:solidFill>
              <a:srgbClr val="DCE5F0"/>
            </a:solidFill>
            <a:round/>
          </a:ln>
        </p:spPr>
      </p:cxnSp>
      <p:sp>
        <p:nvSpPr>
          <p:cNvPr id="216" name="TextBox 43"/>
          <p:cNvSpPr/>
          <p:nvPr/>
        </p:nvSpPr>
        <p:spPr>
          <a:xfrm>
            <a:off x="1078920" y="4581000"/>
            <a:ext cx="16912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Kopi O ais</a:t>
            </a:r>
            <a:endParaRPr lang="en-US" sz="900" b="0" u="none" strike="noStrike">
              <a:solidFill>
                <a:srgbClr val="000000"/>
              </a:solidFill>
              <a:effectLst/>
              <a:uFillTx/>
              <a:latin typeface="Arial"/>
            </a:endParaRPr>
          </a:p>
        </p:txBody>
      </p:sp>
      <p:sp>
        <p:nvSpPr>
          <p:cNvPr id="217" name="TextBox 44"/>
          <p:cNvSpPr/>
          <p:nvPr/>
        </p:nvSpPr>
        <p:spPr>
          <a:xfrm>
            <a:off x="2962800" y="4581000"/>
            <a:ext cx="86832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54.6</a:t>
            </a:r>
            <a:endParaRPr lang="en-US" sz="900" b="0" u="none" strike="noStrike">
              <a:solidFill>
                <a:srgbClr val="000000"/>
              </a:solidFill>
              <a:effectLst/>
              <a:uFillTx/>
              <a:latin typeface="Arial"/>
            </a:endParaRPr>
          </a:p>
        </p:txBody>
      </p:sp>
      <p:sp>
        <p:nvSpPr>
          <p:cNvPr id="218" name="Rounded Rectangle 45"/>
          <p:cNvSpPr/>
          <p:nvPr/>
        </p:nvSpPr>
        <p:spPr>
          <a:xfrm>
            <a:off x="4069080" y="4539960"/>
            <a:ext cx="585000" cy="282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9" name="TextBox 46"/>
          <p:cNvSpPr/>
          <p:nvPr/>
        </p:nvSpPr>
        <p:spPr>
          <a:xfrm>
            <a:off x="4096440" y="4585680"/>
            <a:ext cx="529920" cy="18252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55</a:t>
            </a:r>
            <a:endParaRPr lang="en-US" sz="900" b="0" u="none" strike="noStrike">
              <a:solidFill>
                <a:srgbClr val="000000"/>
              </a:solidFill>
              <a:effectLst/>
              <a:uFillTx/>
              <a:latin typeface="Arial"/>
            </a:endParaRPr>
          </a:p>
        </p:txBody>
      </p:sp>
      <p:sp>
        <p:nvSpPr>
          <p:cNvPr id="220" name="TextBox 47"/>
          <p:cNvSpPr/>
          <p:nvPr/>
        </p:nvSpPr>
        <p:spPr>
          <a:xfrm>
            <a:off x="5056560" y="4581000"/>
            <a:ext cx="12250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Coffee · covered</a:t>
            </a:r>
            <a:endParaRPr lang="en-US" sz="800" b="0" u="none" strike="noStrike">
              <a:solidFill>
                <a:srgbClr val="000000"/>
              </a:solidFill>
              <a:effectLst/>
              <a:uFillTx/>
              <a:latin typeface="Arial"/>
            </a:endParaRPr>
          </a:p>
        </p:txBody>
      </p:sp>
      <p:sp>
        <p:nvSpPr>
          <p:cNvPr id="221" name="Rounded Rectangle 48"/>
          <p:cNvSpPr/>
          <p:nvPr/>
        </p:nvSpPr>
        <p:spPr>
          <a:xfrm>
            <a:off x="6309360" y="4549320"/>
            <a:ext cx="667080" cy="2739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2" name="TextBox 49"/>
          <p:cNvSpPr/>
          <p:nvPr/>
        </p:nvSpPr>
        <p:spPr>
          <a:xfrm>
            <a:off x="6364080" y="4572000"/>
            <a:ext cx="5572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167C5A"/>
                </a:solidFill>
                <a:effectLst/>
                <a:uFillTx/>
                <a:latin typeface="Noto Sans"/>
              </a:rPr>
              <a:t>READY</a:t>
            </a:r>
            <a:endParaRPr lang="en-US" sz="700" b="0" u="none" strike="noStrike">
              <a:solidFill>
                <a:srgbClr val="000000"/>
              </a:solidFill>
              <a:effectLst/>
              <a:uFillTx/>
              <a:latin typeface="Arial"/>
            </a:endParaRPr>
          </a:p>
        </p:txBody>
      </p:sp>
      <p:cxnSp>
        <p:nvCxnSpPr>
          <p:cNvPr id="223" name="Connector 50"/>
          <p:cNvCxnSpPr/>
          <p:nvPr/>
        </p:nvCxnSpPr>
        <p:spPr>
          <a:xfrm>
            <a:off x="969120" y="4928400"/>
            <a:ext cx="6099480" cy="360"/>
          </a:xfrm>
          <a:prstGeom prst="straightConnector1">
            <a:avLst/>
          </a:prstGeom>
          <a:ln w="6350">
            <a:solidFill>
              <a:srgbClr val="DCE5F0"/>
            </a:solidFill>
            <a:round/>
          </a:ln>
        </p:spPr>
      </p:cxnSp>
      <p:sp>
        <p:nvSpPr>
          <p:cNvPr id="224" name="TextBox 51"/>
          <p:cNvSpPr/>
          <p:nvPr/>
        </p:nvSpPr>
        <p:spPr>
          <a:xfrm>
            <a:off x="1078920" y="5010840"/>
            <a:ext cx="16912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Iced lemon tea</a:t>
            </a:r>
            <a:endParaRPr lang="en-US" sz="900" b="0" u="none" strike="noStrike">
              <a:solidFill>
                <a:srgbClr val="000000"/>
              </a:solidFill>
              <a:effectLst/>
              <a:uFillTx/>
              <a:latin typeface="Arial"/>
            </a:endParaRPr>
          </a:p>
        </p:txBody>
      </p:sp>
      <p:sp>
        <p:nvSpPr>
          <p:cNvPr id="225" name="TextBox 52"/>
          <p:cNvSpPr/>
          <p:nvPr/>
        </p:nvSpPr>
        <p:spPr>
          <a:xfrm>
            <a:off x="2962800" y="5010840"/>
            <a:ext cx="86832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39.2</a:t>
            </a:r>
            <a:endParaRPr lang="en-US" sz="900" b="0" u="none" strike="noStrike">
              <a:solidFill>
                <a:srgbClr val="000000"/>
              </a:solidFill>
              <a:effectLst/>
              <a:uFillTx/>
              <a:latin typeface="Arial"/>
            </a:endParaRPr>
          </a:p>
        </p:txBody>
      </p:sp>
      <p:sp>
        <p:nvSpPr>
          <p:cNvPr id="226" name="Rounded Rectangle 53"/>
          <p:cNvSpPr/>
          <p:nvPr/>
        </p:nvSpPr>
        <p:spPr>
          <a:xfrm>
            <a:off x="4069080" y="4969800"/>
            <a:ext cx="585000" cy="282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7" name="TextBox 54"/>
          <p:cNvSpPr/>
          <p:nvPr/>
        </p:nvSpPr>
        <p:spPr>
          <a:xfrm>
            <a:off x="4096440" y="5015520"/>
            <a:ext cx="529920" cy="18252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40</a:t>
            </a:r>
            <a:endParaRPr lang="en-US" sz="900" b="0" u="none" strike="noStrike">
              <a:solidFill>
                <a:srgbClr val="000000"/>
              </a:solidFill>
              <a:effectLst/>
              <a:uFillTx/>
              <a:latin typeface="Arial"/>
            </a:endParaRPr>
          </a:p>
        </p:txBody>
      </p:sp>
      <p:sp>
        <p:nvSpPr>
          <p:cNvPr id="228" name="TextBox 55"/>
          <p:cNvSpPr/>
          <p:nvPr/>
        </p:nvSpPr>
        <p:spPr>
          <a:xfrm>
            <a:off x="5056560" y="5010840"/>
            <a:ext cx="12250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Tea · covered</a:t>
            </a:r>
            <a:endParaRPr lang="en-US" sz="800" b="0" u="none" strike="noStrike">
              <a:solidFill>
                <a:srgbClr val="000000"/>
              </a:solidFill>
              <a:effectLst/>
              <a:uFillTx/>
              <a:latin typeface="Arial"/>
            </a:endParaRPr>
          </a:p>
        </p:txBody>
      </p:sp>
      <p:sp>
        <p:nvSpPr>
          <p:cNvPr id="229" name="Rounded Rectangle 56"/>
          <p:cNvSpPr/>
          <p:nvPr/>
        </p:nvSpPr>
        <p:spPr>
          <a:xfrm>
            <a:off x="6309360" y="4978800"/>
            <a:ext cx="667080" cy="2739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0" name="TextBox 57"/>
          <p:cNvSpPr/>
          <p:nvPr/>
        </p:nvSpPr>
        <p:spPr>
          <a:xfrm>
            <a:off x="6364080" y="5001840"/>
            <a:ext cx="5572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167C5A"/>
                </a:solidFill>
                <a:effectLst/>
                <a:uFillTx/>
                <a:latin typeface="Noto Sans"/>
              </a:rPr>
              <a:t>READY</a:t>
            </a:r>
            <a:endParaRPr lang="en-US" sz="700" b="0" u="none" strike="noStrike">
              <a:solidFill>
                <a:srgbClr val="000000"/>
              </a:solidFill>
              <a:effectLst/>
              <a:uFillTx/>
              <a:latin typeface="Arial"/>
            </a:endParaRPr>
          </a:p>
        </p:txBody>
      </p:sp>
      <p:sp>
        <p:nvSpPr>
          <p:cNvPr id="231" name="Rounded Rectangle 58"/>
          <p:cNvSpPr/>
          <p:nvPr/>
        </p:nvSpPr>
        <p:spPr>
          <a:xfrm>
            <a:off x="969120" y="5596200"/>
            <a:ext cx="6117120" cy="31068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2" name="TextBox 59"/>
          <p:cNvSpPr/>
          <p:nvPr/>
        </p:nvSpPr>
        <p:spPr>
          <a:xfrm>
            <a:off x="1097280" y="5641920"/>
            <a:ext cx="577872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167C5A"/>
                </a:solidFill>
                <a:effectLst/>
                <a:uFillTx/>
                <a:latin typeface="Noto Sans"/>
              </a:rPr>
              <a:t>SCHEMATIC EXAMPLE — values shown are illustrative, not live customer data.</a:t>
            </a:r>
            <a:endParaRPr lang="en-US" sz="800" b="0" u="none" strike="noStrike">
              <a:solidFill>
                <a:srgbClr val="000000"/>
              </a:solidFill>
              <a:effectLst/>
              <a:uFillTx/>
              <a:latin typeface="Arial"/>
            </a:endParaRPr>
          </a:p>
        </p:txBody>
      </p:sp>
      <p:sp>
        <p:nvSpPr>
          <p:cNvPr id="233" name="Rounded Rectangle 60"/>
          <p:cNvSpPr/>
          <p:nvPr/>
        </p:nvSpPr>
        <p:spPr>
          <a:xfrm>
            <a:off x="7680960" y="1774080"/>
            <a:ext cx="378540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4" name="TextBox 61"/>
          <p:cNvSpPr/>
          <p:nvPr/>
        </p:nvSpPr>
        <p:spPr>
          <a:xfrm>
            <a:off x="7982640" y="2057400"/>
            <a:ext cx="3218400" cy="3013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600" b="1" u="none" strike="noStrike">
                <a:solidFill>
                  <a:srgbClr val="172B4D"/>
                </a:solidFill>
                <a:effectLst/>
                <a:uFillTx/>
                <a:latin typeface="Noto Sans"/>
              </a:rPr>
              <a:t>The decision stays with the operator</a:t>
            </a:r>
            <a:endParaRPr lang="en-US" sz="1600" b="0" u="none" strike="noStrike">
              <a:solidFill>
                <a:srgbClr val="000000"/>
              </a:solidFill>
              <a:effectLst/>
              <a:uFillTx/>
              <a:latin typeface="Arial"/>
            </a:endParaRPr>
          </a:p>
        </p:txBody>
      </p:sp>
      <p:sp>
        <p:nvSpPr>
          <p:cNvPr id="235" name="Rounded Rectangle 62"/>
          <p:cNvSpPr/>
          <p:nvPr/>
        </p:nvSpPr>
        <p:spPr>
          <a:xfrm>
            <a:off x="8001000" y="2679120"/>
            <a:ext cx="347040" cy="273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63"/>
          <p:cNvSpPr/>
          <p:nvPr/>
        </p:nvSpPr>
        <p:spPr>
          <a:xfrm>
            <a:off x="8055720" y="2702160"/>
            <a:ext cx="2372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2563EB"/>
                </a:solidFill>
                <a:effectLst/>
                <a:uFillTx/>
                <a:latin typeface="Noto Sans"/>
              </a:rPr>
              <a:t>A</a:t>
            </a:r>
            <a:endParaRPr lang="en-US" sz="800" b="0" u="none" strike="noStrike">
              <a:solidFill>
                <a:srgbClr val="000000"/>
              </a:solidFill>
              <a:effectLst/>
              <a:uFillTx/>
              <a:latin typeface="Arial"/>
            </a:endParaRPr>
          </a:p>
        </p:txBody>
      </p:sp>
      <p:sp>
        <p:nvSpPr>
          <p:cNvPr id="237" name="TextBox 64"/>
          <p:cNvSpPr/>
          <p:nvPr/>
        </p:nvSpPr>
        <p:spPr>
          <a:xfrm>
            <a:off x="8494920" y="2674800"/>
            <a:ext cx="24868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Check the basis</a:t>
            </a:r>
            <a:endParaRPr lang="en-US" sz="1000" b="0" u="none" strike="noStrike">
              <a:solidFill>
                <a:srgbClr val="000000"/>
              </a:solidFill>
              <a:effectLst/>
              <a:uFillTx/>
              <a:latin typeface="Arial"/>
            </a:endParaRPr>
          </a:p>
        </p:txBody>
      </p:sp>
      <p:sp>
        <p:nvSpPr>
          <p:cNvPr id="238" name="TextBox 65"/>
          <p:cNvSpPr/>
          <p:nvPr/>
        </p:nvSpPr>
        <p:spPr>
          <a:xfrm>
            <a:off x="8494920" y="2935080"/>
            <a:ext cx="255996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Seven prior complete days; missing entries are shown, not silently zero-filled.</a:t>
            </a:r>
            <a:endParaRPr lang="en-US" sz="800" b="0" u="none" strike="noStrike">
              <a:solidFill>
                <a:srgbClr val="000000"/>
              </a:solidFill>
              <a:effectLst/>
              <a:uFillTx/>
              <a:latin typeface="Arial"/>
            </a:endParaRPr>
          </a:p>
        </p:txBody>
      </p:sp>
      <p:sp>
        <p:nvSpPr>
          <p:cNvPr id="239" name="Rounded Rectangle 66"/>
          <p:cNvSpPr/>
          <p:nvPr/>
        </p:nvSpPr>
        <p:spPr>
          <a:xfrm>
            <a:off x="8001000" y="3429000"/>
            <a:ext cx="347040" cy="273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0" name="TextBox 67"/>
          <p:cNvSpPr/>
          <p:nvPr/>
        </p:nvSpPr>
        <p:spPr>
          <a:xfrm>
            <a:off x="8055720" y="3452040"/>
            <a:ext cx="2372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2563EB"/>
                </a:solidFill>
                <a:effectLst/>
                <a:uFillTx/>
                <a:latin typeface="Noto Sans"/>
              </a:rPr>
              <a:t>B</a:t>
            </a:r>
            <a:endParaRPr lang="en-US" sz="800" b="0" u="none" strike="noStrike">
              <a:solidFill>
                <a:srgbClr val="000000"/>
              </a:solidFill>
              <a:effectLst/>
              <a:uFillTx/>
              <a:latin typeface="Arial"/>
            </a:endParaRPr>
          </a:p>
        </p:txBody>
      </p:sp>
      <p:sp>
        <p:nvSpPr>
          <p:cNvPr id="241" name="TextBox 68"/>
          <p:cNvSpPr/>
          <p:nvPr/>
        </p:nvSpPr>
        <p:spPr>
          <a:xfrm>
            <a:off x="8494920" y="3424320"/>
            <a:ext cx="24868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Adjust preparation</a:t>
            </a:r>
            <a:endParaRPr lang="en-US" sz="1000" b="0" u="none" strike="noStrike">
              <a:solidFill>
                <a:srgbClr val="000000"/>
              </a:solidFill>
              <a:effectLst/>
              <a:uFillTx/>
              <a:latin typeface="Arial"/>
            </a:endParaRPr>
          </a:p>
        </p:txBody>
      </p:sp>
      <p:sp>
        <p:nvSpPr>
          <p:cNvPr id="242" name="TextBox 69"/>
          <p:cNvSpPr/>
          <p:nvPr/>
        </p:nvSpPr>
        <p:spPr>
          <a:xfrm>
            <a:off x="8494920" y="3684960"/>
            <a:ext cx="255996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Forecast defaults are rounded up; the operator may change whole-serving quantities.</a:t>
            </a:r>
            <a:endParaRPr lang="en-US" sz="800" b="0" u="none" strike="noStrike">
              <a:solidFill>
                <a:srgbClr val="000000"/>
              </a:solidFill>
              <a:effectLst/>
              <a:uFillTx/>
              <a:latin typeface="Arial"/>
            </a:endParaRPr>
          </a:p>
        </p:txBody>
      </p:sp>
      <p:sp>
        <p:nvSpPr>
          <p:cNvPr id="243" name="Rounded Rectangle 70"/>
          <p:cNvSpPr/>
          <p:nvPr/>
        </p:nvSpPr>
        <p:spPr>
          <a:xfrm>
            <a:off x="8001000" y="4178880"/>
            <a:ext cx="347040" cy="273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71"/>
          <p:cNvSpPr/>
          <p:nvPr/>
        </p:nvSpPr>
        <p:spPr>
          <a:xfrm>
            <a:off x="8055720" y="4201560"/>
            <a:ext cx="2372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2563EB"/>
                </a:solidFill>
                <a:effectLst/>
                <a:uFillTx/>
                <a:latin typeface="Noto Sans"/>
              </a:rPr>
              <a:t>C</a:t>
            </a:r>
            <a:endParaRPr lang="en-US" sz="800" b="0" u="none" strike="noStrike">
              <a:solidFill>
                <a:srgbClr val="000000"/>
              </a:solidFill>
              <a:effectLst/>
              <a:uFillTx/>
              <a:latin typeface="Arial"/>
            </a:endParaRPr>
          </a:p>
        </p:txBody>
      </p:sp>
      <p:sp>
        <p:nvSpPr>
          <p:cNvPr id="245" name="TextBox 72"/>
          <p:cNvSpPr/>
          <p:nvPr/>
        </p:nvSpPr>
        <p:spPr>
          <a:xfrm>
            <a:off x="8494920" y="4174200"/>
            <a:ext cx="24868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Review stock</a:t>
            </a:r>
            <a:endParaRPr lang="en-US" sz="1000" b="0" u="none" strike="noStrike">
              <a:solidFill>
                <a:srgbClr val="000000"/>
              </a:solidFill>
              <a:effectLst/>
              <a:uFillTx/>
              <a:latin typeface="Arial"/>
            </a:endParaRPr>
          </a:p>
        </p:txBody>
      </p:sp>
      <p:sp>
        <p:nvSpPr>
          <p:cNvPr id="246" name="TextBox 73"/>
          <p:cNvSpPr/>
          <p:nvPr/>
        </p:nvSpPr>
        <p:spPr>
          <a:xfrm>
            <a:off x="8494920" y="4434840"/>
            <a:ext cx="255996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Inspect usable batches, expiry warnings and ingredient shortages.</a:t>
            </a:r>
            <a:endParaRPr lang="en-US" sz="800" b="0" u="none" strike="noStrike">
              <a:solidFill>
                <a:srgbClr val="000000"/>
              </a:solidFill>
              <a:effectLst/>
              <a:uFillTx/>
              <a:latin typeface="Arial"/>
            </a:endParaRPr>
          </a:p>
        </p:txBody>
      </p:sp>
      <p:sp>
        <p:nvSpPr>
          <p:cNvPr id="247" name="Rounded Rectangle 74"/>
          <p:cNvSpPr/>
          <p:nvPr/>
        </p:nvSpPr>
        <p:spPr>
          <a:xfrm>
            <a:off x="8001000" y="4928760"/>
            <a:ext cx="347040" cy="2739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8" name="TextBox 75"/>
          <p:cNvSpPr/>
          <p:nvPr/>
        </p:nvSpPr>
        <p:spPr>
          <a:xfrm>
            <a:off x="8055720" y="4951440"/>
            <a:ext cx="2372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2563EB"/>
                </a:solidFill>
                <a:effectLst/>
                <a:uFillTx/>
                <a:latin typeface="Noto Sans"/>
              </a:rPr>
              <a:t>D</a:t>
            </a:r>
            <a:endParaRPr lang="en-US" sz="800" b="0" u="none" strike="noStrike">
              <a:solidFill>
                <a:srgbClr val="000000"/>
              </a:solidFill>
              <a:effectLst/>
              <a:uFillTx/>
              <a:latin typeface="Arial"/>
            </a:endParaRPr>
          </a:p>
        </p:txBody>
      </p:sp>
      <p:sp>
        <p:nvSpPr>
          <p:cNvPr id="249" name="TextBox 76"/>
          <p:cNvSpPr/>
          <p:nvPr/>
        </p:nvSpPr>
        <p:spPr>
          <a:xfrm>
            <a:off x="8494920" y="4924080"/>
            <a:ext cx="2486880" cy="219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Approve deliberately</a:t>
            </a:r>
            <a:endParaRPr lang="en-US" sz="1000" b="0" u="none" strike="noStrike">
              <a:solidFill>
                <a:srgbClr val="000000"/>
              </a:solidFill>
              <a:effectLst/>
              <a:uFillTx/>
              <a:latin typeface="Arial"/>
            </a:endParaRPr>
          </a:p>
        </p:txBody>
      </p:sp>
      <p:sp>
        <p:nvSpPr>
          <p:cNvPr id="250" name="TextBox 77"/>
          <p:cNvSpPr/>
          <p:nvPr/>
        </p:nvSpPr>
        <p:spPr>
          <a:xfrm>
            <a:off x="8494920" y="5184720"/>
            <a:ext cx="255996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Owner confirms stock review; approval does not place orders or deduct stock.</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251"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04 / FORECASTING</a:t>
            </a:r>
            <a:endParaRPr lang="en-US" sz="800" b="0" u="none" strike="noStrike">
              <a:solidFill>
                <a:srgbClr val="000000"/>
              </a:solidFill>
              <a:effectLst/>
              <a:uFillTx/>
              <a:latin typeface="Arial"/>
            </a:endParaRPr>
          </a:p>
        </p:txBody>
      </p:sp>
      <p:sp>
        <p:nvSpPr>
          <p:cNvPr id="252"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A transparent one-day-ahead forecast</a:t>
            </a:r>
            <a:endParaRPr lang="en-US" sz="2500" b="0" u="none" strike="noStrike">
              <a:solidFill>
                <a:srgbClr val="000000"/>
              </a:solidFill>
              <a:effectLst/>
              <a:uFillTx/>
              <a:latin typeface="Arial"/>
            </a:endParaRPr>
          </a:p>
        </p:txBody>
      </p:sp>
      <p:sp>
        <p:nvSpPr>
          <p:cNvPr id="253"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Five menu items • seven complete prior days • simple, reviewable sales features.</a:t>
            </a:r>
            <a:endParaRPr lang="en-US" sz="1100" b="0" u="none" strike="noStrike">
              <a:solidFill>
                <a:srgbClr val="000000"/>
              </a:solidFill>
              <a:effectLst/>
              <a:uFillTx/>
              <a:latin typeface="Arial"/>
            </a:endParaRPr>
          </a:p>
        </p:txBody>
      </p:sp>
      <p:cxnSp>
        <p:nvCxnSpPr>
          <p:cNvPr id="254" name="Connector 4"/>
          <p:cNvCxnSpPr/>
          <p:nvPr/>
        </p:nvCxnSpPr>
        <p:spPr>
          <a:xfrm>
            <a:off x="566640" y="1481040"/>
            <a:ext cx="11046600" cy="360"/>
          </a:xfrm>
          <a:prstGeom prst="straightConnector1">
            <a:avLst/>
          </a:prstGeom>
          <a:ln w="10160">
            <a:solidFill>
              <a:srgbClr val="DCE5F0"/>
            </a:solidFill>
            <a:round/>
          </a:ln>
        </p:spPr>
      </p:cxnSp>
      <p:sp>
        <p:nvSpPr>
          <p:cNvPr id="255"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05</a:t>
            </a:r>
            <a:endParaRPr lang="en-US" sz="800" b="0" u="none" strike="noStrike">
              <a:solidFill>
                <a:srgbClr val="000000"/>
              </a:solidFill>
              <a:effectLst/>
              <a:uFillTx/>
              <a:latin typeface="Arial"/>
            </a:endParaRPr>
          </a:p>
        </p:txBody>
      </p:sp>
      <p:sp>
        <p:nvSpPr>
          <p:cNvPr id="256"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257" name="Rounded Rectangle 7"/>
          <p:cNvSpPr/>
          <p:nvPr/>
        </p:nvSpPr>
        <p:spPr>
          <a:xfrm>
            <a:off x="713160" y="1774080"/>
            <a:ext cx="672048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8" name="TextBox 8"/>
          <p:cNvSpPr/>
          <p:nvPr/>
        </p:nvSpPr>
        <p:spPr>
          <a:xfrm>
            <a:off x="960120" y="1993320"/>
            <a:ext cx="612612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FEATURES CREATED FOR EACH MENU ITEM</a:t>
            </a:r>
            <a:endParaRPr lang="en-US" sz="900" b="0" u="none" strike="noStrike">
              <a:solidFill>
                <a:srgbClr val="000000"/>
              </a:solidFill>
              <a:effectLst/>
              <a:uFillTx/>
              <a:latin typeface="Arial"/>
            </a:endParaRPr>
          </a:p>
        </p:txBody>
      </p:sp>
      <p:sp>
        <p:nvSpPr>
          <p:cNvPr id="259" name="Rounded Rectangle 9"/>
          <p:cNvSpPr/>
          <p:nvPr/>
        </p:nvSpPr>
        <p:spPr>
          <a:xfrm>
            <a:off x="960120" y="2514600"/>
            <a:ext cx="1325520" cy="105120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0" name="TextBox 10"/>
          <p:cNvSpPr/>
          <p:nvPr/>
        </p:nvSpPr>
        <p:spPr>
          <a:xfrm>
            <a:off x="1069920" y="2670120"/>
            <a:ext cx="110592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2563EB"/>
                </a:solidFill>
                <a:effectLst/>
                <a:uFillTx/>
                <a:latin typeface="Noto Sans"/>
              </a:rPr>
              <a:t>DAY OF WEEK</a:t>
            </a:r>
            <a:endParaRPr lang="en-US" sz="700" b="0" u="none" strike="noStrike">
              <a:solidFill>
                <a:srgbClr val="000000"/>
              </a:solidFill>
              <a:effectLst/>
              <a:uFillTx/>
              <a:latin typeface="Arial"/>
            </a:endParaRPr>
          </a:p>
        </p:txBody>
      </p:sp>
      <p:sp>
        <p:nvSpPr>
          <p:cNvPr id="261" name="TextBox 11"/>
          <p:cNvSpPr/>
          <p:nvPr/>
        </p:nvSpPr>
        <p:spPr>
          <a:xfrm>
            <a:off x="1069920" y="2962800"/>
            <a:ext cx="1105920" cy="484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Monday = 0</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Sunday = 6</a:t>
            </a:r>
            <a:endParaRPr lang="en-US" sz="900" b="0" u="none" strike="noStrike">
              <a:solidFill>
                <a:srgbClr val="000000"/>
              </a:solidFill>
              <a:effectLst/>
              <a:uFillTx/>
              <a:latin typeface="Arial"/>
            </a:endParaRPr>
          </a:p>
        </p:txBody>
      </p:sp>
      <p:sp>
        <p:nvSpPr>
          <p:cNvPr id="262" name="Rounded Rectangle 12"/>
          <p:cNvSpPr/>
          <p:nvPr/>
        </p:nvSpPr>
        <p:spPr>
          <a:xfrm>
            <a:off x="2487240" y="2514600"/>
            <a:ext cx="1325520" cy="105120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3" name="TextBox 13"/>
          <p:cNvSpPr/>
          <p:nvPr/>
        </p:nvSpPr>
        <p:spPr>
          <a:xfrm>
            <a:off x="2597040" y="2670120"/>
            <a:ext cx="110592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2563EB"/>
                </a:solidFill>
                <a:effectLst/>
                <a:uFillTx/>
                <a:latin typeface="Noto Sans"/>
              </a:rPr>
              <a:t>YESTERD</a:t>
            </a:r>
            <a:r>
              <a:rPr lang="en-US" sz="700" b="1" u="none" strike="noStrike">
                <a:solidFill>
                  <a:srgbClr val="2563EB"/>
                </a:solidFill>
                <a:effectLst/>
                <a:uFillTx/>
                <a:latin typeface="Noto Sans"/>
              </a:rPr>
              <a:t>AY</a:t>
            </a:r>
            <a:endParaRPr lang="en-US" sz="700" b="0" u="none" strike="noStrike">
              <a:solidFill>
                <a:srgbClr val="000000"/>
              </a:solidFill>
              <a:effectLst/>
              <a:uFillTx/>
              <a:latin typeface="Arial"/>
            </a:endParaRPr>
          </a:p>
        </p:txBody>
      </p:sp>
      <p:sp>
        <p:nvSpPr>
          <p:cNvPr id="264" name="TextBox 14"/>
          <p:cNvSpPr/>
          <p:nvPr/>
        </p:nvSpPr>
        <p:spPr>
          <a:xfrm>
            <a:off x="2597040" y="2962800"/>
            <a:ext cx="1105920" cy="484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Most recent</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completed day</a:t>
            </a:r>
            <a:endParaRPr lang="en-US" sz="900" b="0" u="none" strike="noStrike">
              <a:solidFill>
                <a:srgbClr val="000000"/>
              </a:solidFill>
              <a:effectLst/>
              <a:uFillTx/>
              <a:latin typeface="Arial"/>
            </a:endParaRPr>
          </a:p>
        </p:txBody>
      </p:sp>
      <p:sp>
        <p:nvSpPr>
          <p:cNvPr id="265" name="Rounded Rectangle 15"/>
          <p:cNvSpPr/>
          <p:nvPr/>
        </p:nvSpPr>
        <p:spPr>
          <a:xfrm>
            <a:off x="4014360" y="2514600"/>
            <a:ext cx="1325520" cy="105120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6" name="TextBox 16"/>
          <p:cNvSpPr/>
          <p:nvPr/>
        </p:nvSpPr>
        <p:spPr>
          <a:xfrm>
            <a:off x="4123800" y="2670120"/>
            <a:ext cx="110592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2563EB"/>
                </a:solidFill>
                <a:effectLst/>
                <a:uFillTx/>
                <a:latin typeface="Noto Sans"/>
              </a:rPr>
              <a:t>LAST WEEK</a:t>
            </a:r>
            <a:endParaRPr lang="en-US" sz="700" b="0" u="none" strike="noStrike">
              <a:solidFill>
                <a:srgbClr val="000000"/>
              </a:solidFill>
              <a:effectLst/>
              <a:uFillTx/>
              <a:latin typeface="Arial"/>
            </a:endParaRPr>
          </a:p>
        </p:txBody>
      </p:sp>
      <p:sp>
        <p:nvSpPr>
          <p:cNvPr id="267" name="TextBox 17"/>
          <p:cNvSpPr/>
          <p:nvPr/>
        </p:nvSpPr>
        <p:spPr>
          <a:xfrm>
            <a:off x="4123800" y="2962800"/>
            <a:ext cx="1105920" cy="484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Same weekday</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7 days back</a:t>
            </a:r>
            <a:endParaRPr lang="en-US" sz="900" b="0" u="none" strike="noStrike">
              <a:solidFill>
                <a:srgbClr val="000000"/>
              </a:solidFill>
              <a:effectLst/>
              <a:uFillTx/>
              <a:latin typeface="Arial"/>
            </a:endParaRPr>
          </a:p>
        </p:txBody>
      </p:sp>
      <p:sp>
        <p:nvSpPr>
          <p:cNvPr id="268" name="Rounded Rectangle 18"/>
          <p:cNvSpPr/>
          <p:nvPr/>
        </p:nvSpPr>
        <p:spPr>
          <a:xfrm>
            <a:off x="5541120" y="2514600"/>
            <a:ext cx="1325520" cy="105120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9" name="TextBox 19"/>
          <p:cNvSpPr/>
          <p:nvPr/>
        </p:nvSpPr>
        <p:spPr>
          <a:xfrm>
            <a:off x="5650920" y="2670120"/>
            <a:ext cx="110592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2563EB"/>
                </a:solidFill>
                <a:effectLst/>
                <a:uFillTx/>
                <a:latin typeface="Noto Sans"/>
              </a:rPr>
              <a:t>7-DAY MEAN</a:t>
            </a:r>
            <a:endParaRPr lang="en-US" sz="700" b="0" u="none" strike="noStrike">
              <a:solidFill>
                <a:srgbClr val="000000"/>
              </a:solidFill>
              <a:effectLst/>
              <a:uFillTx/>
              <a:latin typeface="Arial"/>
            </a:endParaRPr>
          </a:p>
        </p:txBody>
      </p:sp>
      <p:sp>
        <p:nvSpPr>
          <p:cNvPr id="270" name="TextBox 20"/>
          <p:cNvSpPr/>
          <p:nvPr/>
        </p:nvSpPr>
        <p:spPr>
          <a:xfrm>
            <a:off x="5650920" y="2962800"/>
            <a:ext cx="1105920" cy="484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Average of the</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previous 7 days</a:t>
            </a:r>
            <a:endParaRPr lang="en-US" sz="900" b="0" u="none" strike="noStrike">
              <a:solidFill>
                <a:srgbClr val="000000"/>
              </a:solidFill>
              <a:effectLst/>
              <a:uFillTx/>
              <a:latin typeface="Arial"/>
            </a:endParaRPr>
          </a:p>
        </p:txBody>
      </p:sp>
      <p:sp>
        <p:nvSpPr>
          <p:cNvPr id="271" name="TextBox 21"/>
          <p:cNvSpPr/>
          <p:nvPr/>
        </p:nvSpPr>
        <p:spPr>
          <a:xfrm>
            <a:off x="969120" y="3886200"/>
            <a:ext cx="603468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RANDOM FOREST  •  300 TREES  •  MAX DEPTH 6</a:t>
            </a:r>
            <a:endParaRPr lang="en-US" sz="900" b="0" u="none" strike="noStrike">
              <a:solidFill>
                <a:srgbClr val="000000"/>
              </a:solidFill>
              <a:effectLst/>
              <a:uFillTx/>
              <a:latin typeface="Arial"/>
            </a:endParaRPr>
          </a:p>
        </p:txBody>
      </p:sp>
      <p:sp>
        <p:nvSpPr>
          <p:cNvPr id="272" name="TextBox 22"/>
          <p:cNvSpPr/>
          <p:nvPr/>
        </p:nvSpPr>
        <p:spPr>
          <a:xfrm>
            <a:off x="978480" y="4251960"/>
            <a:ext cx="5988960" cy="566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405472"/>
                </a:solidFill>
                <a:effectLst/>
                <a:uFillTx/>
                <a:latin typeface="Noto Sans"/>
              </a:rPr>
              <a:t>One-hot encodes menu identity and passes the numeric history features to a fitted pipeline.</a:t>
            </a:r>
            <a:endParaRPr lang="en-US" sz="1100" b="0" u="none" strike="noStrike">
              <a:solidFill>
                <a:srgbClr val="000000"/>
              </a:solidFill>
              <a:effectLst/>
              <a:uFillTx/>
              <a:latin typeface="Arial"/>
            </a:endParaRPr>
          </a:p>
        </p:txBody>
      </p:sp>
      <p:sp>
        <p:nvSpPr>
          <p:cNvPr id="273" name="Rounded Rectangle 23"/>
          <p:cNvSpPr/>
          <p:nvPr/>
        </p:nvSpPr>
        <p:spPr>
          <a:xfrm>
            <a:off x="969120" y="5047560"/>
            <a:ext cx="6071400" cy="68544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4" name="TextBox 24"/>
          <p:cNvSpPr/>
          <p:nvPr/>
        </p:nvSpPr>
        <p:spPr>
          <a:xfrm>
            <a:off x="1152000" y="5193720"/>
            <a:ext cx="5687280" cy="402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A35B09"/>
                </a:solidFill>
                <a:effectLst/>
                <a:uFillTx/>
                <a:latin typeface="Noto Sans"/>
              </a:rPr>
              <a:t>No complete 7-day history? Forecast is blocked; missing sales are not treated as zero.</a:t>
            </a:r>
            <a:endParaRPr lang="en-US" sz="1000" b="0" u="none" strike="noStrike">
              <a:solidFill>
                <a:srgbClr val="000000"/>
              </a:solidFill>
              <a:effectLst/>
              <a:uFillTx/>
              <a:latin typeface="Arial"/>
            </a:endParaRPr>
          </a:p>
        </p:txBody>
      </p:sp>
      <p:sp>
        <p:nvSpPr>
          <p:cNvPr id="275" name="Rounded Rectangle 25"/>
          <p:cNvSpPr/>
          <p:nvPr/>
        </p:nvSpPr>
        <p:spPr>
          <a:xfrm>
            <a:off x="7754040" y="1774080"/>
            <a:ext cx="372132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6" name="TextBox 26"/>
          <p:cNvSpPr/>
          <p:nvPr/>
        </p:nvSpPr>
        <p:spPr>
          <a:xfrm>
            <a:off x="8037720" y="2011680"/>
            <a:ext cx="3108600" cy="273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500" b="1" u="none" strike="noStrike">
                <a:solidFill>
                  <a:srgbClr val="172B4D"/>
                </a:solidFill>
                <a:effectLst/>
                <a:uFillTx/>
                <a:latin typeface="Noto Sans"/>
              </a:rPr>
              <a:t>Synthetic holdout check</a:t>
            </a:r>
            <a:endParaRPr lang="en-US" sz="1500" b="0" u="none" strike="noStrike">
              <a:solidFill>
                <a:srgbClr val="000000"/>
              </a:solidFill>
              <a:effectLst/>
              <a:uFillTx/>
              <a:latin typeface="Arial"/>
            </a:endParaRPr>
          </a:p>
        </p:txBody>
      </p:sp>
      <p:sp>
        <p:nvSpPr>
          <p:cNvPr id="277" name="TextBox 27"/>
          <p:cNvSpPr/>
          <p:nvPr/>
        </p:nvSpPr>
        <p:spPr>
          <a:xfrm>
            <a:off x="8046720" y="2377440"/>
            <a:ext cx="301716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64748B"/>
                </a:solidFill>
                <a:effectLst/>
                <a:uFillTx/>
                <a:latin typeface="Noto Sans"/>
              </a:rPr>
              <a:t>Mean absolute error • servings</a:t>
            </a:r>
            <a:endParaRPr lang="en-US" sz="900" b="0" u="none" strike="noStrike">
              <a:solidFill>
                <a:srgbClr val="000000"/>
              </a:solidFill>
              <a:effectLst/>
              <a:uFillTx/>
              <a:latin typeface="Arial"/>
            </a:endParaRPr>
          </a:p>
        </p:txBody>
      </p:sp>
      <p:sp>
        <p:nvSpPr>
          <p:cNvPr id="278" name="TextBox 28"/>
          <p:cNvSpPr/>
          <p:nvPr/>
        </p:nvSpPr>
        <p:spPr>
          <a:xfrm>
            <a:off x="8046720" y="2990160"/>
            <a:ext cx="138960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172B4D"/>
                </a:solidFill>
                <a:effectLst/>
                <a:uFillTx/>
                <a:latin typeface="Noto Sans"/>
              </a:rPr>
              <a:t>Random Forest</a:t>
            </a:r>
            <a:endParaRPr lang="en-US" sz="700" b="0" u="none" strike="noStrike">
              <a:solidFill>
                <a:srgbClr val="000000"/>
              </a:solidFill>
              <a:effectLst/>
              <a:uFillTx/>
              <a:latin typeface="Arial"/>
            </a:endParaRPr>
          </a:p>
        </p:txBody>
      </p:sp>
      <p:sp>
        <p:nvSpPr>
          <p:cNvPr id="279" name="Rounded Rectangle 29"/>
          <p:cNvSpPr/>
          <p:nvPr/>
        </p:nvSpPr>
        <p:spPr>
          <a:xfrm>
            <a:off x="9528120" y="2962800"/>
            <a:ext cx="666000" cy="383760"/>
          </a:xfrm>
          <a:prstGeom prst="roundRect">
            <a:avLst>
              <a:gd name="adj" fmla="val 12000"/>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0" name="TextBox 30"/>
          <p:cNvSpPr/>
          <p:nvPr/>
        </p:nvSpPr>
        <p:spPr>
          <a:xfrm>
            <a:off x="10304280" y="3017520"/>
            <a:ext cx="52992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3.09</a:t>
            </a:r>
            <a:endParaRPr lang="en-US" sz="900" b="0" u="none" strike="noStrike">
              <a:solidFill>
                <a:srgbClr val="000000"/>
              </a:solidFill>
              <a:effectLst/>
              <a:uFillTx/>
              <a:latin typeface="Arial"/>
            </a:endParaRPr>
          </a:p>
        </p:txBody>
      </p:sp>
      <p:sp>
        <p:nvSpPr>
          <p:cNvPr id="281" name="TextBox 31"/>
          <p:cNvSpPr/>
          <p:nvPr/>
        </p:nvSpPr>
        <p:spPr>
          <a:xfrm>
            <a:off x="8046720" y="4005000"/>
            <a:ext cx="138960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172B4D"/>
                </a:solidFill>
                <a:effectLst/>
                <a:uFillTx/>
                <a:latin typeface="Noto Sans"/>
              </a:rPr>
              <a:t>Last-week baseline</a:t>
            </a:r>
            <a:endParaRPr lang="en-US" sz="700" b="0" u="none" strike="noStrike">
              <a:solidFill>
                <a:srgbClr val="000000"/>
              </a:solidFill>
              <a:effectLst/>
              <a:uFillTx/>
              <a:latin typeface="Arial"/>
            </a:endParaRPr>
          </a:p>
        </p:txBody>
      </p:sp>
      <p:sp>
        <p:nvSpPr>
          <p:cNvPr id="282" name="Rounded Rectangle 32"/>
          <p:cNvSpPr/>
          <p:nvPr/>
        </p:nvSpPr>
        <p:spPr>
          <a:xfrm>
            <a:off x="9528120" y="3977640"/>
            <a:ext cx="905400" cy="383760"/>
          </a:xfrm>
          <a:prstGeom prst="roundRect">
            <a:avLst>
              <a:gd name="adj" fmla="val 12000"/>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33"/>
          <p:cNvSpPr/>
          <p:nvPr/>
        </p:nvSpPr>
        <p:spPr>
          <a:xfrm>
            <a:off x="10543320" y="4032360"/>
            <a:ext cx="52992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72B4D"/>
                </a:solidFill>
                <a:effectLst/>
                <a:uFillTx/>
                <a:latin typeface="Noto Sans"/>
              </a:rPr>
              <a:t>4.20</a:t>
            </a:r>
            <a:endParaRPr lang="en-US" sz="900" b="0" u="none" strike="noStrike">
              <a:solidFill>
                <a:srgbClr val="000000"/>
              </a:solidFill>
              <a:effectLst/>
              <a:uFillTx/>
              <a:latin typeface="Arial"/>
            </a:endParaRPr>
          </a:p>
        </p:txBody>
      </p:sp>
      <p:sp>
        <p:nvSpPr>
          <p:cNvPr id="284" name="TextBox 34"/>
          <p:cNvSpPr/>
          <p:nvPr/>
        </p:nvSpPr>
        <p:spPr>
          <a:xfrm>
            <a:off x="8046720" y="4599360"/>
            <a:ext cx="3035520" cy="511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A35B09"/>
                </a:solidFill>
                <a:effectLst/>
                <a:uFillTx/>
                <a:latin typeface="Noto Sans"/>
              </a:rPr>
              <a:t>3.09 vs 4.20 MAE on synthetic data only. Not a real-world performance claim.</a:t>
            </a:r>
            <a:endParaRPr lang="en-US" sz="1000" b="0" u="none" strike="noStrike">
              <a:solidFill>
                <a:srgbClr val="000000"/>
              </a:solidFill>
              <a:effectLst/>
              <a:uFillTx/>
              <a:latin typeface="Arial"/>
            </a:endParaRPr>
          </a:p>
        </p:txBody>
      </p:sp>
      <p:sp>
        <p:nvSpPr>
          <p:cNvPr id="285" name="TextBox 35"/>
          <p:cNvSpPr/>
          <p:nvPr/>
        </p:nvSpPr>
        <p:spPr>
          <a:xfrm>
            <a:off x="8046720" y="5312520"/>
            <a:ext cx="299880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0" u="none" strike="noStrike">
                <a:solidFill>
                  <a:srgbClr val="405472"/>
                </a:solidFill>
                <a:effectLst/>
                <a:uFillTx/>
                <a:latin typeface="Noto Sans"/>
              </a:rPr>
              <a:t>Predictions are clipped at zero; preparation defaults round up to whole servings.</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286"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05 / PLANNING LOGIC</a:t>
            </a:r>
            <a:endParaRPr lang="en-US" sz="800" b="0" u="none" strike="noStrike">
              <a:solidFill>
                <a:srgbClr val="000000"/>
              </a:solidFill>
              <a:effectLst/>
              <a:uFillTx/>
              <a:latin typeface="Arial"/>
            </a:endParaRPr>
          </a:p>
        </p:txBody>
      </p:sp>
      <p:sp>
        <p:nvSpPr>
          <p:cNvPr id="287"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Translate a menu decision into ingredient quantities</a:t>
            </a:r>
            <a:endParaRPr lang="en-US" sz="2500" b="0" u="none" strike="noStrike">
              <a:solidFill>
                <a:srgbClr val="000000"/>
              </a:solidFill>
              <a:effectLst/>
              <a:uFillTx/>
              <a:latin typeface="Arial"/>
            </a:endParaRPr>
          </a:p>
        </p:txBody>
      </p:sp>
      <p:sp>
        <p:nvSpPr>
          <p:cNvPr id="288"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The calculation is recipe-led, unit-aware, and explicit about what stock counts as available.</a:t>
            </a:r>
            <a:endParaRPr lang="en-US" sz="1100" b="0" u="none" strike="noStrike">
              <a:solidFill>
                <a:srgbClr val="000000"/>
              </a:solidFill>
              <a:effectLst/>
              <a:uFillTx/>
              <a:latin typeface="Arial"/>
            </a:endParaRPr>
          </a:p>
        </p:txBody>
      </p:sp>
      <p:cxnSp>
        <p:nvCxnSpPr>
          <p:cNvPr id="289" name="Connector 4"/>
          <p:cNvCxnSpPr/>
          <p:nvPr/>
        </p:nvCxnSpPr>
        <p:spPr>
          <a:xfrm>
            <a:off x="566640" y="1481040"/>
            <a:ext cx="11046600" cy="360"/>
          </a:xfrm>
          <a:prstGeom prst="straightConnector1">
            <a:avLst/>
          </a:prstGeom>
          <a:ln w="10160">
            <a:solidFill>
              <a:srgbClr val="DCE5F0"/>
            </a:solidFill>
            <a:round/>
          </a:ln>
        </p:spPr>
      </p:cxnSp>
      <p:sp>
        <p:nvSpPr>
          <p:cNvPr id="290"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06</a:t>
            </a:r>
            <a:endParaRPr lang="en-US" sz="800" b="0" u="none" strike="noStrike">
              <a:solidFill>
                <a:srgbClr val="000000"/>
              </a:solidFill>
              <a:effectLst/>
              <a:uFillTx/>
              <a:latin typeface="Arial"/>
            </a:endParaRPr>
          </a:p>
        </p:txBody>
      </p:sp>
      <p:sp>
        <p:nvSpPr>
          <p:cNvPr id="291"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292" name="Rounded Rectangle 7"/>
          <p:cNvSpPr/>
          <p:nvPr/>
        </p:nvSpPr>
        <p:spPr>
          <a:xfrm>
            <a:off x="713160" y="1774080"/>
            <a:ext cx="480024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3" name="TextBox 8"/>
          <p:cNvSpPr/>
          <p:nvPr/>
        </p:nvSpPr>
        <p:spPr>
          <a:xfrm>
            <a:off x="987480" y="2020680"/>
            <a:ext cx="4169160" cy="273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1  /  SCALE EACH RECIPE LINE</a:t>
            </a:r>
            <a:endParaRPr lang="en-US" sz="900" b="0" u="none" strike="noStrike">
              <a:solidFill>
                <a:srgbClr val="000000"/>
              </a:solidFill>
              <a:effectLst/>
              <a:uFillTx/>
              <a:latin typeface="Arial"/>
            </a:endParaRPr>
          </a:p>
        </p:txBody>
      </p:sp>
      <p:sp>
        <p:nvSpPr>
          <p:cNvPr id="294" name="Rounded Rectangle 9"/>
          <p:cNvSpPr/>
          <p:nvPr/>
        </p:nvSpPr>
        <p:spPr>
          <a:xfrm>
            <a:off x="987480" y="2523600"/>
            <a:ext cx="4187520" cy="100548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5" name="TextBox 10"/>
          <p:cNvSpPr/>
          <p:nvPr/>
        </p:nvSpPr>
        <p:spPr>
          <a:xfrm>
            <a:off x="1207080" y="2688480"/>
            <a:ext cx="3748680" cy="6670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spcAft>
                <a:spcPts val="400"/>
              </a:spcAft>
            </a:pPr>
            <a:r>
              <a:rPr lang="en-US" sz="1200" b="1" u="none" strike="noStrike">
                <a:solidFill>
                  <a:srgbClr val="172B4D"/>
                </a:solidFill>
                <a:effectLst/>
                <a:uFillTx/>
                <a:latin typeface="Noto Sans"/>
              </a:rPr>
              <a:t>ingredient need</a:t>
            </a:r>
            <a:endParaRPr lang="en-US" sz="1200" b="0" u="none" strike="noStrike">
              <a:solidFill>
                <a:srgbClr val="000000"/>
              </a:solidFill>
              <a:effectLst/>
              <a:uFillTx/>
              <a:latin typeface="Arial"/>
            </a:endParaRPr>
          </a:p>
          <a:p>
            <a:pPr algn="ctr" defTabSz="457200">
              <a:lnSpc>
                <a:spcPct val="100000"/>
              </a:lnSpc>
            </a:pPr>
            <a:r>
              <a:rPr lang="en-US" sz="1200" b="1" u="none" strike="noStrike">
                <a:solidFill>
                  <a:srgbClr val="172B4D"/>
                </a:solidFill>
                <a:effectLst/>
                <a:uFillTx/>
                <a:latin typeface="Noto Sans"/>
              </a:rPr>
              <a:t>= recipe quantity × planned servings ÷ recipe batch servings</a:t>
            </a:r>
            <a:endParaRPr lang="en-US" sz="1200" b="0" u="none" strike="noStrike">
              <a:solidFill>
                <a:srgbClr val="000000"/>
              </a:solidFill>
              <a:effectLst/>
              <a:uFillTx/>
              <a:latin typeface="Arial"/>
            </a:endParaRPr>
          </a:p>
        </p:txBody>
      </p:sp>
      <p:sp>
        <p:nvSpPr>
          <p:cNvPr id="296" name="TextBox 11"/>
          <p:cNvSpPr/>
          <p:nvPr/>
        </p:nvSpPr>
        <p:spPr>
          <a:xfrm>
            <a:off x="1005840" y="3712320"/>
            <a:ext cx="4096080" cy="264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2  /  AGGREGATE SHARED INGREDIENTS</a:t>
            </a:r>
            <a:endParaRPr lang="en-US" sz="900" b="0" u="none" strike="noStrike">
              <a:solidFill>
                <a:srgbClr val="000000"/>
              </a:solidFill>
              <a:effectLst/>
              <a:uFillTx/>
              <a:latin typeface="Arial"/>
            </a:endParaRPr>
          </a:p>
        </p:txBody>
      </p:sp>
      <p:sp>
        <p:nvSpPr>
          <p:cNvPr id="297" name="TextBox 12"/>
          <p:cNvSpPr/>
          <p:nvPr/>
        </p:nvSpPr>
        <p:spPr>
          <a:xfrm>
            <a:off x="1014840" y="4078080"/>
            <a:ext cx="4077720" cy="5940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405472"/>
                </a:solidFill>
                <a:effectLst/>
                <a:uFillTx/>
                <a:latin typeface="Noto Sans"/>
              </a:rPr>
              <a:t>Rice for chicken rice + rice for nasi lemak = total rice requirement.</a:t>
            </a:r>
            <a:endParaRPr lang="en-US" sz="1100" b="0" u="none" strike="noStrike">
              <a:solidFill>
                <a:srgbClr val="000000"/>
              </a:solidFill>
              <a:effectLst/>
              <a:uFillTx/>
              <a:latin typeface="Arial"/>
            </a:endParaRPr>
          </a:p>
        </p:txBody>
      </p:sp>
      <p:sp>
        <p:nvSpPr>
          <p:cNvPr id="298" name="TextBox 13"/>
          <p:cNvSpPr/>
          <p:nvPr/>
        </p:nvSpPr>
        <p:spPr>
          <a:xfrm>
            <a:off x="1005840" y="4782240"/>
            <a:ext cx="4096080" cy="264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3  /  COMPARE WITH USABLE STOCK</a:t>
            </a:r>
            <a:endParaRPr lang="en-US" sz="900" b="0" u="none" strike="noStrike">
              <a:solidFill>
                <a:srgbClr val="000000"/>
              </a:solidFill>
              <a:effectLst/>
              <a:uFillTx/>
              <a:latin typeface="Arial"/>
            </a:endParaRPr>
          </a:p>
        </p:txBody>
      </p:sp>
      <p:sp>
        <p:nvSpPr>
          <p:cNvPr id="299" name="Rounded Rectangle 14"/>
          <p:cNvSpPr/>
          <p:nvPr/>
        </p:nvSpPr>
        <p:spPr>
          <a:xfrm>
            <a:off x="987480" y="5157360"/>
            <a:ext cx="4187520" cy="63972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0" name="TextBox 15"/>
          <p:cNvSpPr/>
          <p:nvPr/>
        </p:nvSpPr>
        <p:spPr>
          <a:xfrm>
            <a:off x="1143000" y="5285160"/>
            <a:ext cx="3867480" cy="36540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1100" b="1" u="none" strike="noStrike">
                <a:solidFill>
                  <a:srgbClr val="167C5A"/>
                </a:solidFill>
                <a:effectLst/>
                <a:uFillTx/>
                <a:latin typeface="Noto Sans"/>
              </a:rPr>
              <a:t>shortage = max(0, required − available)</a:t>
            </a:r>
            <a:endParaRPr lang="en-US" sz="1100" b="0" u="none" strike="noStrike">
              <a:solidFill>
                <a:srgbClr val="000000"/>
              </a:solidFill>
              <a:effectLst/>
              <a:uFillTx/>
              <a:latin typeface="Arial"/>
            </a:endParaRPr>
          </a:p>
        </p:txBody>
      </p:sp>
      <p:sp>
        <p:nvSpPr>
          <p:cNvPr id="301" name="Rounded Rectangle 16"/>
          <p:cNvSpPr/>
          <p:nvPr/>
        </p:nvSpPr>
        <p:spPr>
          <a:xfrm>
            <a:off x="5815440" y="1774080"/>
            <a:ext cx="5650560" cy="43156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2" name="TextBox 17"/>
          <p:cNvSpPr/>
          <p:nvPr/>
        </p:nvSpPr>
        <p:spPr>
          <a:xfrm>
            <a:off x="6126480" y="2020680"/>
            <a:ext cx="5028840" cy="273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WHAT COUNTS AS USABLE?</a:t>
            </a:r>
            <a:endParaRPr lang="en-US" sz="900" b="0" u="none" strike="noStrike">
              <a:solidFill>
                <a:srgbClr val="000000"/>
              </a:solidFill>
              <a:effectLst/>
              <a:uFillTx/>
              <a:latin typeface="Arial"/>
            </a:endParaRPr>
          </a:p>
        </p:txBody>
      </p:sp>
      <p:sp>
        <p:nvSpPr>
          <p:cNvPr id="303" name="Rounded Rectangle 18"/>
          <p:cNvSpPr/>
          <p:nvPr/>
        </p:nvSpPr>
        <p:spPr>
          <a:xfrm>
            <a:off x="6126480" y="2523600"/>
            <a:ext cx="1005480" cy="2739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4" name="TextBox 19"/>
          <p:cNvSpPr/>
          <p:nvPr/>
        </p:nvSpPr>
        <p:spPr>
          <a:xfrm>
            <a:off x="6181200" y="2546640"/>
            <a:ext cx="8956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167C5A"/>
                </a:solidFill>
                <a:effectLst/>
                <a:uFillTx/>
                <a:latin typeface="Noto Sans"/>
              </a:rPr>
              <a:t>COUNTED</a:t>
            </a:r>
            <a:endParaRPr lang="en-US" sz="700" b="0" u="none" strike="noStrike">
              <a:solidFill>
                <a:srgbClr val="000000"/>
              </a:solidFill>
              <a:effectLst/>
              <a:uFillTx/>
              <a:latin typeface="Arial"/>
            </a:endParaRPr>
          </a:p>
        </p:txBody>
      </p:sp>
      <p:sp>
        <p:nvSpPr>
          <p:cNvPr id="305" name="TextBox 20"/>
          <p:cNvSpPr/>
          <p:nvPr/>
        </p:nvSpPr>
        <p:spPr>
          <a:xfrm>
            <a:off x="7306200" y="2532960"/>
            <a:ext cx="373032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Positive batches with no expiry date, or expiry on/after preparation date.</a:t>
            </a:r>
            <a:endParaRPr lang="en-US" sz="900" b="0" u="none" strike="noStrike">
              <a:solidFill>
                <a:srgbClr val="000000"/>
              </a:solidFill>
              <a:effectLst/>
              <a:uFillTx/>
              <a:latin typeface="Arial"/>
            </a:endParaRPr>
          </a:p>
        </p:txBody>
      </p:sp>
      <p:sp>
        <p:nvSpPr>
          <p:cNvPr id="306" name="Rounded Rectangle 21"/>
          <p:cNvSpPr/>
          <p:nvPr/>
        </p:nvSpPr>
        <p:spPr>
          <a:xfrm>
            <a:off x="6126480" y="3136320"/>
            <a:ext cx="1005480" cy="273960"/>
          </a:xfrm>
          <a:prstGeom prst="roundRect">
            <a:avLst>
              <a:gd name="adj" fmla="val 12000"/>
            </a:avLst>
          </a:prstGeom>
          <a:solidFill>
            <a:srgbClr val="EFF5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7" name="TextBox 22"/>
          <p:cNvSpPr/>
          <p:nvPr/>
        </p:nvSpPr>
        <p:spPr>
          <a:xfrm>
            <a:off x="6181200" y="3159360"/>
            <a:ext cx="8956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64748B"/>
                </a:solidFill>
                <a:effectLst/>
                <a:uFillTx/>
                <a:latin typeface="Noto Sans"/>
              </a:rPr>
              <a:t>EXCLUDED</a:t>
            </a:r>
            <a:endParaRPr lang="en-US" sz="700" b="0" u="none" strike="noStrike">
              <a:solidFill>
                <a:srgbClr val="000000"/>
              </a:solidFill>
              <a:effectLst/>
              <a:uFillTx/>
              <a:latin typeface="Arial"/>
            </a:endParaRPr>
          </a:p>
        </p:txBody>
      </p:sp>
      <p:sp>
        <p:nvSpPr>
          <p:cNvPr id="308" name="TextBox 23"/>
          <p:cNvSpPr/>
          <p:nvPr/>
        </p:nvSpPr>
        <p:spPr>
          <a:xfrm>
            <a:off x="7306200" y="3145680"/>
            <a:ext cx="373032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Batches expired before preparation date.</a:t>
            </a:r>
            <a:endParaRPr lang="en-US" sz="900" b="0" u="none" strike="noStrike">
              <a:solidFill>
                <a:srgbClr val="000000"/>
              </a:solidFill>
              <a:effectLst/>
              <a:uFillTx/>
              <a:latin typeface="Arial"/>
            </a:endParaRPr>
          </a:p>
        </p:txBody>
      </p:sp>
      <p:sp>
        <p:nvSpPr>
          <p:cNvPr id="309" name="Rounded Rectangle 24"/>
          <p:cNvSpPr/>
          <p:nvPr/>
        </p:nvSpPr>
        <p:spPr>
          <a:xfrm>
            <a:off x="6126480" y="3749040"/>
            <a:ext cx="1005480" cy="2739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0" name="TextBox 25"/>
          <p:cNvSpPr/>
          <p:nvPr/>
        </p:nvSpPr>
        <p:spPr>
          <a:xfrm>
            <a:off x="6181200" y="3772080"/>
            <a:ext cx="8956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A35B09"/>
                </a:solidFill>
                <a:effectLst/>
                <a:uFillTx/>
                <a:latin typeface="Noto Sans"/>
              </a:rPr>
              <a:t>FLAGGED</a:t>
            </a:r>
            <a:endParaRPr lang="en-US" sz="700" b="0" u="none" strike="noStrike">
              <a:solidFill>
                <a:srgbClr val="000000"/>
              </a:solidFill>
              <a:effectLst/>
              <a:uFillTx/>
              <a:latin typeface="Arial"/>
            </a:endParaRPr>
          </a:p>
        </p:txBody>
      </p:sp>
      <p:sp>
        <p:nvSpPr>
          <p:cNvPr id="311" name="TextBox 26"/>
          <p:cNvSpPr/>
          <p:nvPr/>
        </p:nvSpPr>
        <p:spPr>
          <a:xfrm>
            <a:off x="7306200" y="3758040"/>
            <a:ext cx="373032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Unknown expiry and older count dates receive review warnings.</a:t>
            </a:r>
            <a:endParaRPr lang="en-US" sz="900" b="0" u="none" strike="noStrike">
              <a:solidFill>
                <a:srgbClr val="000000"/>
              </a:solidFill>
              <a:effectLst/>
              <a:uFillTx/>
              <a:latin typeface="Arial"/>
            </a:endParaRPr>
          </a:p>
        </p:txBody>
      </p:sp>
      <p:sp>
        <p:nvSpPr>
          <p:cNvPr id="312" name="Rounded Rectangle 27"/>
          <p:cNvSpPr/>
          <p:nvPr/>
        </p:nvSpPr>
        <p:spPr>
          <a:xfrm>
            <a:off x="6126480" y="4361760"/>
            <a:ext cx="1005480" cy="273960"/>
          </a:xfrm>
          <a:prstGeom prst="roundRect">
            <a:avLst>
              <a:gd name="adj" fmla="val 12000"/>
            </a:avLst>
          </a:prstGeom>
          <a:solidFill>
            <a:srgbClr val="EFF5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TextBox 28"/>
          <p:cNvSpPr/>
          <p:nvPr/>
        </p:nvSpPr>
        <p:spPr>
          <a:xfrm>
            <a:off x="6181200" y="4384440"/>
            <a:ext cx="8956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64748B"/>
                </a:solidFill>
                <a:effectLst/>
                <a:uFillTx/>
                <a:latin typeface="Noto Sans"/>
              </a:rPr>
              <a:t>ROUNDED</a:t>
            </a:r>
            <a:endParaRPr lang="en-US" sz="700" b="0" u="none" strike="noStrike">
              <a:solidFill>
                <a:srgbClr val="000000"/>
              </a:solidFill>
              <a:effectLst/>
              <a:uFillTx/>
              <a:latin typeface="Arial"/>
            </a:endParaRPr>
          </a:p>
        </p:txBody>
      </p:sp>
      <p:sp>
        <p:nvSpPr>
          <p:cNvPr id="314" name="TextBox 29"/>
          <p:cNvSpPr/>
          <p:nvPr/>
        </p:nvSpPr>
        <p:spPr>
          <a:xfrm>
            <a:off x="7306200" y="4370760"/>
            <a:ext cx="373032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Count ingredients are rounded up to whole pieces.</a:t>
            </a:r>
            <a:endParaRPr lang="en-US" sz="900" b="0" u="none" strike="noStrike">
              <a:solidFill>
                <a:srgbClr val="000000"/>
              </a:solidFill>
              <a:effectLst/>
              <a:uFillTx/>
              <a:latin typeface="Arial"/>
            </a:endParaRPr>
          </a:p>
        </p:txBody>
      </p:sp>
      <p:sp>
        <p:nvSpPr>
          <p:cNvPr id="315" name="Rounded Rectangle 30"/>
          <p:cNvSpPr/>
          <p:nvPr/>
        </p:nvSpPr>
        <p:spPr>
          <a:xfrm>
            <a:off x="6126480" y="4974480"/>
            <a:ext cx="1005480" cy="273960"/>
          </a:xfrm>
          <a:prstGeom prst="roundRect">
            <a:avLst>
              <a:gd name="adj" fmla="val 12000"/>
            </a:avLst>
          </a:prstGeom>
          <a:solidFill>
            <a:srgbClr val="EFF5F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6" name="TextBox 31"/>
          <p:cNvSpPr/>
          <p:nvPr/>
        </p:nvSpPr>
        <p:spPr>
          <a:xfrm>
            <a:off x="6181200" y="4997160"/>
            <a:ext cx="89568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64748B"/>
                </a:solidFill>
                <a:effectLst/>
                <a:uFillTx/>
                <a:latin typeface="Noto Sans"/>
              </a:rPr>
              <a:t>SUGGESTED</a:t>
            </a:r>
            <a:endParaRPr lang="en-US" sz="700" b="0" u="none" strike="noStrike">
              <a:solidFill>
                <a:srgbClr val="000000"/>
              </a:solidFill>
              <a:effectLst/>
              <a:uFillTx/>
              <a:latin typeface="Arial"/>
            </a:endParaRPr>
          </a:p>
        </p:txBody>
      </p:sp>
      <p:sp>
        <p:nvSpPr>
          <p:cNvPr id="317" name="TextBox 32"/>
          <p:cNvSpPr/>
          <p:nvPr/>
        </p:nvSpPr>
        <p:spPr>
          <a:xfrm>
            <a:off x="7306200" y="4983480"/>
            <a:ext cx="3730320" cy="392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Shortage can be expressed in configured purchase pack sizes.</a:t>
            </a:r>
            <a:endParaRPr lang="en-US" sz="900" b="0" u="none" strike="noStrike">
              <a:solidFill>
                <a:srgbClr val="000000"/>
              </a:solidFill>
              <a:effectLst/>
              <a:uFillTx/>
              <a:latin typeface="Arial"/>
            </a:endParaRPr>
          </a:p>
        </p:txBody>
      </p:sp>
      <p:sp>
        <p:nvSpPr>
          <p:cNvPr id="318" name="Rounded Rectangle 33"/>
          <p:cNvSpPr/>
          <p:nvPr/>
        </p:nvSpPr>
        <p:spPr>
          <a:xfrm>
            <a:off x="6126480" y="5623560"/>
            <a:ext cx="5001480" cy="31068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9" name="TextBox 34"/>
          <p:cNvSpPr/>
          <p:nvPr/>
        </p:nvSpPr>
        <p:spPr>
          <a:xfrm>
            <a:off x="6272640" y="5669280"/>
            <a:ext cx="4717800" cy="1825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A35B09"/>
                </a:solidFill>
                <a:effectLst/>
                <a:uFillTx/>
                <a:latin typeface="Noto Sans"/>
              </a:rPr>
              <a:t>Approval records review; it does not deduct inventory or place an order.</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320"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06 / OPERATING WORKSPACE</a:t>
            </a:r>
            <a:endParaRPr lang="en-US" sz="800" b="0" u="none" strike="noStrike">
              <a:solidFill>
                <a:srgbClr val="000000"/>
              </a:solidFill>
              <a:effectLst/>
              <a:uFillTx/>
              <a:latin typeface="Arial"/>
            </a:endParaRPr>
          </a:p>
        </p:txBody>
      </p:sp>
      <p:sp>
        <p:nvSpPr>
          <p:cNvPr id="321"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The forecast is one part of a connected operating record</a:t>
            </a:r>
            <a:endParaRPr lang="en-US" sz="2500" b="0" u="none" strike="noStrike">
              <a:solidFill>
                <a:srgbClr val="000000"/>
              </a:solidFill>
              <a:effectLst/>
              <a:uFillTx/>
              <a:latin typeface="Arial"/>
            </a:endParaRPr>
          </a:p>
        </p:txBody>
      </p:sp>
      <p:sp>
        <p:nvSpPr>
          <p:cNvPr id="322"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The surrounding data makes the recommendation explainable and keeps a trace of decisions.</a:t>
            </a:r>
            <a:endParaRPr lang="en-US" sz="1100" b="0" u="none" strike="noStrike">
              <a:solidFill>
                <a:srgbClr val="000000"/>
              </a:solidFill>
              <a:effectLst/>
              <a:uFillTx/>
              <a:latin typeface="Arial"/>
            </a:endParaRPr>
          </a:p>
        </p:txBody>
      </p:sp>
      <p:cxnSp>
        <p:nvCxnSpPr>
          <p:cNvPr id="323" name="Connector 4"/>
          <p:cNvCxnSpPr/>
          <p:nvPr/>
        </p:nvCxnSpPr>
        <p:spPr>
          <a:xfrm>
            <a:off x="566640" y="1481040"/>
            <a:ext cx="11046600" cy="360"/>
          </a:xfrm>
          <a:prstGeom prst="straightConnector1">
            <a:avLst/>
          </a:prstGeom>
          <a:ln w="10160">
            <a:solidFill>
              <a:srgbClr val="DCE5F0"/>
            </a:solidFill>
            <a:round/>
          </a:ln>
        </p:spPr>
      </p:cxnSp>
      <p:sp>
        <p:nvSpPr>
          <p:cNvPr id="324"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07</a:t>
            </a:r>
            <a:endParaRPr lang="en-US" sz="800" b="0" u="none" strike="noStrike">
              <a:solidFill>
                <a:srgbClr val="000000"/>
              </a:solidFill>
              <a:effectLst/>
              <a:uFillTx/>
              <a:latin typeface="Arial"/>
            </a:endParaRPr>
          </a:p>
        </p:txBody>
      </p:sp>
      <p:sp>
        <p:nvSpPr>
          <p:cNvPr id="325"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326" name="Rounded Rectangle 7"/>
          <p:cNvSpPr/>
          <p:nvPr/>
        </p:nvSpPr>
        <p:spPr>
          <a:xfrm>
            <a:off x="749880" y="1856160"/>
            <a:ext cx="1901520" cy="164556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8"/>
          <p:cNvSpPr/>
          <p:nvPr/>
        </p:nvSpPr>
        <p:spPr>
          <a:xfrm>
            <a:off x="914400" y="2057400"/>
            <a:ext cx="1581480" cy="237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SALES</a:t>
            </a:r>
            <a:endParaRPr lang="en-US" sz="900" b="0" u="none" strike="noStrike">
              <a:solidFill>
                <a:srgbClr val="000000"/>
              </a:solidFill>
              <a:effectLst/>
              <a:uFillTx/>
              <a:latin typeface="Arial"/>
            </a:endParaRPr>
          </a:p>
        </p:txBody>
      </p:sp>
      <p:sp>
        <p:nvSpPr>
          <p:cNvPr id="328" name="TextBox 9"/>
          <p:cNvSpPr/>
          <p:nvPr/>
        </p:nvSpPr>
        <p:spPr>
          <a:xfrm>
            <a:off x="914400" y="2468880"/>
            <a:ext cx="1581480" cy="840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Five menus • daily servings</a:t>
            </a:r>
            <a:endParaRPr lang="en-US" sz="900" b="0" u="none" strike="noStrike">
              <a:solidFill>
                <a:srgbClr val="000000"/>
              </a:solidFill>
              <a:effectLst/>
              <a:uFillTx/>
              <a:latin typeface="Arial"/>
            </a:endParaRPr>
          </a:p>
          <a:p>
            <a:pPr defTabSz="457200">
              <a:lnSpc>
                <a:spcPct val="100000"/>
              </a:lnSpc>
              <a:spcAft>
                <a:spcPts val="400"/>
              </a:spcAft>
            </a:pPr>
            <a:r>
              <a:rPr lang="en-US" sz="900" b="1" u="none" strike="noStrike">
                <a:solidFill>
                  <a:srgbClr val="172B4D"/>
                </a:solidFill>
                <a:effectLst/>
                <a:uFillTx/>
                <a:latin typeface="Noto Sans"/>
              </a:rPr>
              <a:t>Blank = not recorded</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Zero = confirmed zero</a:t>
            </a:r>
            <a:endParaRPr lang="en-US" sz="900" b="0" u="none" strike="noStrike">
              <a:solidFill>
                <a:srgbClr val="000000"/>
              </a:solidFill>
              <a:effectLst/>
              <a:uFillTx/>
              <a:latin typeface="Arial"/>
            </a:endParaRPr>
          </a:p>
        </p:txBody>
      </p:sp>
      <p:cxnSp>
        <p:nvCxnSpPr>
          <p:cNvPr id="329" name="Connector 10"/>
          <p:cNvCxnSpPr/>
          <p:nvPr/>
        </p:nvCxnSpPr>
        <p:spPr>
          <a:xfrm>
            <a:off x="2688120" y="2688120"/>
            <a:ext cx="942120" cy="360"/>
          </a:xfrm>
          <a:prstGeom prst="straightConnector1">
            <a:avLst/>
          </a:prstGeom>
          <a:ln w="15240">
            <a:solidFill>
              <a:srgbClr val="B8CCE7"/>
            </a:solidFill>
            <a:round/>
          </a:ln>
        </p:spPr>
      </p:cxnSp>
      <p:sp>
        <p:nvSpPr>
          <p:cNvPr id="330" name="Rounded Rectangle 11"/>
          <p:cNvSpPr/>
          <p:nvPr/>
        </p:nvSpPr>
        <p:spPr>
          <a:xfrm>
            <a:off x="3675960" y="1856160"/>
            <a:ext cx="1901520" cy="1645560"/>
          </a:xfrm>
          <a:prstGeom prst="roundRect">
            <a:avLst>
              <a:gd name="adj" fmla="val 12000"/>
            </a:avLst>
          </a:prstGeom>
          <a:solidFill>
            <a:srgbClr val="F1EC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1" name="TextBox 12"/>
          <p:cNvSpPr/>
          <p:nvPr/>
        </p:nvSpPr>
        <p:spPr>
          <a:xfrm>
            <a:off x="3840480" y="2057400"/>
            <a:ext cx="1581480" cy="237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6941C6"/>
                </a:solidFill>
                <a:effectLst/>
                <a:uFillTx/>
                <a:latin typeface="Noto Sans"/>
              </a:rPr>
              <a:t>RECIPES &amp; COSTS</a:t>
            </a:r>
            <a:endParaRPr lang="en-US" sz="900" b="0" u="none" strike="noStrike">
              <a:solidFill>
                <a:srgbClr val="000000"/>
              </a:solidFill>
              <a:effectLst/>
              <a:uFillTx/>
              <a:latin typeface="Arial"/>
            </a:endParaRPr>
          </a:p>
        </p:txBody>
      </p:sp>
      <p:sp>
        <p:nvSpPr>
          <p:cNvPr id="332" name="TextBox 13"/>
          <p:cNvSpPr/>
          <p:nvPr/>
        </p:nvSpPr>
        <p:spPr>
          <a:xfrm>
            <a:off x="3840480" y="2468880"/>
            <a:ext cx="1581480" cy="840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Ingredient lines • batch yield</a:t>
            </a:r>
            <a:endParaRPr lang="en-US" sz="900" b="0" u="none" strike="noStrike">
              <a:solidFill>
                <a:srgbClr val="000000"/>
              </a:solidFill>
              <a:effectLst/>
              <a:uFillTx/>
              <a:latin typeface="Arial"/>
            </a:endParaRPr>
          </a:p>
          <a:p>
            <a:pPr defTabSz="457200">
              <a:lnSpc>
                <a:spcPct val="100000"/>
              </a:lnSpc>
              <a:spcAft>
                <a:spcPts val="400"/>
              </a:spcAft>
            </a:pPr>
            <a:r>
              <a:rPr lang="en-US" sz="900" b="1" u="none" strike="noStrike">
                <a:solidFill>
                  <a:srgbClr val="172B4D"/>
                </a:solidFill>
                <a:effectLst/>
                <a:uFillTx/>
                <a:latin typeface="Noto Sans"/>
              </a:rPr>
              <a:t>Selling price • pack cost</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Saved cost snapshots</a:t>
            </a:r>
            <a:endParaRPr lang="en-US" sz="900" b="0" u="none" strike="noStrike">
              <a:solidFill>
                <a:srgbClr val="000000"/>
              </a:solidFill>
              <a:effectLst/>
              <a:uFillTx/>
              <a:latin typeface="Arial"/>
            </a:endParaRPr>
          </a:p>
        </p:txBody>
      </p:sp>
      <p:cxnSp>
        <p:nvCxnSpPr>
          <p:cNvPr id="333" name="Connector 14"/>
          <p:cNvCxnSpPr/>
          <p:nvPr/>
        </p:nvCxnSpPr>
        <p:spPr>
          <a:xfrm>
            <a:off x="5614200" y="2688120"/>
            <a:ext cx="942120" cy="360"/>
          </a:xfrm>
          <a:prstGeom prst="straightConnector1">
            <a:avLst/>
          </a:prstGeom>
          <a:ln w="15240">
            <a:solidFill>
              <a:srgbClr val="B8CCE7"/>
            </a:solidFill>
            <a:round/>
          </a:ln>
        </p:spPr>
      </p:cxnSp>
      <p:sp>
        <p:nvSpPr>
          <p:cNvPr id="334" name="Rounded Rectangle 15"/>
          <p:cNvSpPr/>
          <p:nvPr/>
        </p:nvSpPr>
        <p:spPr>
          <a:xfrm>
            <a:off x="6602040" y="1856160"/>
            <a:ext cx="1901520" cy="16455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6"/>
          <p:cNvSpPr/>
          <p:nvPr/>
        </p:nvSpPr>
        <p:spPr>
          <a:xfrm>
            <a:off x="6766560" y="2057400"/>
            <a:ext cx="1581480" cy="237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INVENTORY</a:t>
            </a:r>
            <a:endParaRPr lang="en-US" sz="900" b="0" u="none" strike="noStrike">
              <a:solidFill>
                <a:srgbClr val="000000"/>
              </a:solidFill>
              <a:effectLst/>
              <a:uFillTx/>
              <a:latin typeface="Arial"/>
            </a:endParaRPr>
          </a:p>
        </p:txBody>
      </p:sp>
      <p:sp>
        <p:nvSpPr>
          <p:cNvPr id="336" name="TextBox 17"/>
          <p:cNvSpPr/>
          <p:nvPr/>
        </p:nvSpPr>
        <p:spPr>
          <a:xfrm>
            <a:off x="6766560" y="2468880"/>
            <a:ext cx="1581480" cy="840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Dated ingredient batches</a:t>
            </a:r>
            <a:endParaRPr lang="en-US" sz="900" b="0" u="none" strike="noStrike">
              <a:solidFill>
                <a:srgbClr val="000000"/>
              </a:solidFill>
              <a:effectLst/>
              <a:uFillTx/>
              <a:latin typeface="Arial"/>
            </a:endParaRPr>
          </a:p>
          <a:p>
            <a:pPr defTabSz="457200">
              <a:lnSpc>
                <a:spcPct val="100000"/>
              </a:lnSpc>
              <a:spcAft>
                <a:spcPts val="400"/>
              </a:spcAft>
            </a:pPr>
            <a:r>
              <a:rPr lang="en-US" sz="900" b="1" u="none" strike="noStrike">
                <a:solidFill>
                  <a:srgbClr val="172B4D"/>
                </a:solidFill>
                <a:effectLst/>
                <a:uFillTx/>
                <a:latin typeface="Noto Sans"/>
              </a:rPr>
              <a:t>Count • expiry • pack size</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Change history</a:t>
            </a:r>
            <a:endParaRPr lang="en-US" sz="900" b="0" u="none" strike="noStrike">
              <a:solidFill>
                <a:srgbClr val="000000"/>
              </a:solidFill>
              <a:effectLst/>
              <a:uFillTx/>
              <a:latin typeface="Arial"/>
            </a:endParaRPr>
          </a:p>
        </p:txBody>
      </p:sp>
      <p:cxnSp>
        <p:nvCxnSpPr>
          <p:cNvPr id="337" name="Connector 18"/>
          <p:cNvCxnSpPr/>
          <p:nvPr/>
        </p:nvCxnSpPr>
        <p:spPr>
          <a:xfrm>
            <a:off x="8540280" y="2688120"/>
            <a:ext cx="942120" cy="360"/>
          </a:xfrm>
          <a:prstGeom prst="straightConnector1">
            <a:avLst/>
          </a:prstGeom>
          <a:ln w="15240">
            <a:solidFill>
              <a:srgbClr val="B8CCE7"/>
            </a:solidFill>
            <a:round/>
          </a:ln>
        </p:spPr>
      </p:cxnSp>
      <p:sp>
        <p:nvSpPr>
          <p:cNvPr id="338" name="Rounded Rectangle 19"/>
          <p:cNvSpPr/>
          <p:nvPr/>
        </p:nvSpPr>
        <p:spPr>
          <a:xfrm>
            <a:off x="9528120" y="1856160"/>
            <a:ext cx="1901520" cy="16455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9" name="TextBox 20"/>
          <p:cNvSpPr/>
          <p:nvPr/>
        </p:nvSpPr>
        <p:spPr>
          <a:xfrm>
            <a:off x="9692640" y="2057400"/>
            <a:ext cx="1581480" cy="237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A35B09"/>
                </a:solidFill>
                <a:effectLst/>
                <a:uFillTx/>
                <a:latin typeface="Noto Sans"/>
              </a:rPr>
              <a:t>EXPENSES</a:t>
            </a:r>
            <a:endParaRPr lang="en-US" sz="900" b="0" u="none" strike="noStrike">
              <a:solidFill>
                <a:srgbClr val="000000"/>
              </a:solidFill>
              <a:effectLst/>
              <a:uFillTx/>
              <a:latin typeface="Arial"/>
            </a:endParaRPr>
          </a:p>
        </p:txBody>
      </p:sp>
      <p:sp>
        <p:nvSpPr>
          <p:cNvPr id="340" name="TextBox 21"/>
          <p:cNvSpPr/>
          <p:nvPr/>
        </p:nvSpPr>
        <p:spPr>
          <a:xfrm>
            <a:off x="9692640" y="2468880"/>
            <a:ext cx="1581480" cy="840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900" b="1" u="none" strike="noStrike">
                <a:solidFill>
                  <a:srgbClr val="172B4D"/>
                </a:solidFill>
                <a:effectLst/>
                <a:uFillTx/>
                <a:latin typeface="Noto Sans"/>
              </a:rPr>
              <a:t>Daily category • amount</a:t>
            </a:r>
            <a:endParaRPr lang="en-US" sz="900" b="0" u="none" strike="noStrike">
              <a:solidFill>
                <a:srgbClr val="000000"/>
              </a:solidFill>
              <a:effectLst/>
              <a:uFillTx/>
              <a:latin typeface="Arial"/>
            </a:endParaRPr>
          </a:p>
          <a:p>
            <a:pPr defTabSz="457200">
              <a:lnSpc>
                <a:spcPct val="100000"/>
              </a:lnSpc>
              <a:spcAft>
                <a:spcPts val="400"/>
              </a:spcAft>
            </a:pPr>
            <a:r>
              <a:rPr lang="en-US" sz="900" b="1" u="none" strike="noStrike">
                <a:solidFill>
                  <a:srgbClr val="172B4D"/>
                </a:solidFill>
                <a:effectLst/>
                <a:uFillTx/>
                <a:latin typeface="Noto Sans"/>
              </a:rPr>
              <a:t>Optional note</a:t>
            </a:r>
            <a:endParaRPr lang="en-US" sz="900" b="0" u="none" strike="noStrike">
              <a:solidFill>
                <a:srgbClr val="000000"/>
              </a:solidFill>
              <a:effectLst/>
              <a:uFillTx/>
              <a:latin typeface="Arial"/>
            </a:endParaRPr>
          </a:p>
          <a:p>
            <a:pPr defTabSz="457200">
              <a:lnSpc>
                <a:spcPct val="100000"/>
              </a:lnSpc>
            </a:pPr>
            <a:r>
              <a:rPr lang="en-US" sz="900" b="1" u="none" strike="noStrike">
                <a:solidFill>
                  <a:srgbClr val="172B4D"/>
                </a:solidFill>
                <a:effectLst/>
                <a:uFillTx/>
                <a:latin typeface="Noto Sans"/>
              </a:rPr>
              <a:t>Estimated net result</a:t>
            </a:r>
            <a:endParaRPr lang="en-US" sz="900" b="0" u="none" strike="noStrike">
              <a:solidFill>
                <a:srgbClr val="000000"/>
              </a:solidFill>
              <a:effectLst/>
              <a:uFillTx/>
              <a:latin typeface="Arial"/>
            </a:endParaRPr>
          </a:p>
        </p:txBody>
      </p:sp>
      <p:sp>
        <p:nvSpPr>
          <p:cNvPr id="341" name="Rounded Rectangle 22"/>
          <p:cNvSpPr/>
          <p:nvPr/>
        </p:nvSpPr>
        <p:spPr>
          <a:xfrm>
            <a:off x="749880" y="3959280"/>
            <a:ext cx="5230080" cy="19198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23"/>
          <p:cNvSpPr/>
          <p:nvPr/>
        </p:nvSpPr>
        <p:spPr>
          <a:xfrm>
            <a:off x="1024200" y="4215240"/>
            <a:ext cx="45532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ROLE-AWARE REVIEW</a:t>
            </a:r>
            <a:endParaRPr lang="en-US" sz="900" b="0" u="none" strike="noStrike">
              <a:solidFill>
                <a:srgbClr val="000000"/>
              </a:solidFill>
              <a:effectLst/>
              <a:uFillTx/>
              <a:latin typeface="Arial"/>
            </a:endParaRPr>
          </a:p>
        </p:txBody>
      </p:sp>
      <p:sp>
        <p:nvSpPr>
          <p:cNvPr id="343" name="TextBox 24"/>
          <p:cNvSpPr/>
          <p:nvPr/>
        </p:nvSpPr>
        <p:spPr>
          <a:xfrm>
            <a:off x="1024200" y="4617720"/>
            <a:ext cx="4516920" cy="9140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0" u="none" strike="noStrike">
                <a:solidFill>
                  <a:srgbClr val="405472"/>
                </a:solidFill>
                <a:effectLst/>
                <a:uFillTx/>
                <a:latin typeface="Noto Sans"/>
              </a:rPr>
              <a:t>Owners manage recipes, prices and approval. Staff can record day-to-day sales and stock within role rules.</a:t>
            </a:r>
            <a:endParaRPr lang="en-US" sz="1200" b="0" u="none" strike="noStrike">
              <a:solidFill>
                <a:srgbClr val="000000"/>
              </a:solidFill>
              <a:effectLst/>
              <a:uFillTx/>
              <a:latin typeface="Arial"/>
            </a:endParaRPr>
          </a:p>
        </p:txBody>
      </p:sp>
      <p:sp>
        <p:nvSpPr>
          <p:cNvPr id="344" name="Rounded Rectangle 25"/>
          <p:cNvSpPr/>
          <p:nvPr/>
        </p:nvSpPr>
        <p:spPr>
          <a:xfrm>
            <a:off x="6217920" y="3959280"/>
            <a:ext cx="5211720" cy="19198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5" name="TextBox 26"/>
          <p:cNvSpPr/>
          <p:nvPr/>
        </p:nvSpPr>
        <p:spPr>
          <a:xfrm>
            <a:off x="6492240" y="4215240"/>
            <a:ext cx="4553280" cy="246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CSV WHEN A WORKBOOK IS EASIER</a:t>
            </a:r>
            <a:endParaRPr lang="en-US" sz="900" b="0" u="none" strike="noStrike">
              <a:solidFill>
                <a:srgbClr val="000000"/>
              </a:solidFill>
              <a:effectLst/>
              <a:uFillTx/>
              <a:latin typeface="Arial"/>
            </a:endParaRPr>
          </a:p>
        </p:txBody>
      </p:sp>
      <p:sp>
        <p:nvSpPr>
          <p:cNvPr id="346" name="TextBox 27"/>
          <p:cNvSpPr/>
          <p:nvPr/>
        </p:nvSpPr>
        <p:spPr>
          <a:xfrm>
            <a:off x="6492240" y="4617720"/>
            <a:ext cx="4525920" cy="9140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200" b="0" u="none" strike="noStrike">
                <a:solidFill>
                  <a:srgbClr val="405472"/>
                </a:solidFill>
                <a:effectLst/>
                <a:uFillTx/>
                <a:latin typeface="Noto Sans"/>
              </a:rPr>
              <a:t>Supported data can be exported and imported with row-level validation. Planning is generated from source records and remains export-only.</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347"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07 / TECHNICAL ARCHITECTURE</a:t>
            </a:r>
            <a:endParaRPr lang="en-US" sz="800" b="0" u="none" strike="noStrike">
              <a:solidFill>
                <a:srgbClr val="000000"/>
              </a:solidFill>
              <a:effectLst/>
              <a:uFillTx/>
              <a:latin typeface="Arial"/>
            </a:endParaRPr>
          </a:p>
        </p:txBody>
      </p:sp>
      <p:sp>
        <p:nvSpPr>
          <p:cNvPr id="348"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A lightweight application with a deliberately separate model service</a:t>
            </a:r>
            <a:endParaRPr lang="en-US" sz="2500" b="0" u="none" strike="noStrike">
              <a:solidFill>
                <a:srgbClr val="000000"/>
              </a:solidFill>
              <a:effectLst/>
              <a:uFillTx/>
              <a:latin typeface="Arial"/>
            </a:endParaRPr>
          </a:p>
        </p:txBody>
      </p:sp>
      <p:sp>
        <p:nvSpPr>
          <p:cNvPr id="349"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The web application owns business data; the prediction API receives prepared features only.</a:t>
            </a:r>
            <a:endParaRPr lang="en-US" sz="1100" b="0" u="none" strike="noStrike">
              <a:solidFill>
                <a:srgbClr val="000000"/>
              </a:solidFill>
              <a:effectLst/>
              <a:uFillTx/>
              <a:latin typeface="Arial"/>
            </a:endParaRPr>
          </a:p>
        </p:txBody>
      </p:sp>
      <p:cxnSp>
        <p:nvCxnSpPr>
          <p:cNvPr id="350" name="Connector 4"/>
          <p:cNvCxnSpPr/>
          <p:nvPr/>
        </p:nvCxnSpPr>
        <p:spPr>
          <a:xfrm>
            <a:off x="566640" y="1481040"/>
            <a:ext cx="11046600" cy="360"/>
          </a:xfrm>
          <a:prstGeom prst="straightConnector1">
            <a:avLst/>
          </a:prstGeom>
          <a:ln w="10160">
            <a:solidFill>
              <a:srgbClr val="DCE5F0"/>
            </a:solidFill>
            <a:round/>
          </a:ln>
        </p:spPr>
      </p:cxnSp>
      <p:sp>
        <p:nvSpPr>
          <p:cNvPr id="351"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08</a:t>
            </a:r>
            <a:endParaRPr lang="en-US" sz="800" b="0" u="none" strike="noStrike">
              <a:solidFill>
                <a:srgbClr val="000000"/>
              </a:solidFill>
              <a:effectLst/>
              <a:uFillTx/>
              <a:latin typeface="Arial"/>
            </a:endParaRPr>
          </a:p>
        </p:txBody>
      </p:sp>
      <p:sp>
        <p:nvSpPr>
          <p:cNvPr id="352"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353" name="Rounded Rectangle 7"/>
          <p:cNvSpPr/>
          <p:nvPr/>
        </p:nvSpPr>
        <p:spPr>
          <a:xfrm>
            <a:off x="831960" y="2139840"/>
            <a:ext cx="1919880" cy="97812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4" name="TextBox 8"/>
          <p:cNvSpPr/>
          <p:nvPr/>
        </p:nvSpPr>
        <p:spPr>
          <a:xfrm>
            <a:off x="1024200" y="2331720"/>
            <a:ext cx="1554120" cy="22824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64748B"/>
                </a:solidFill>
                <a:effectLst/>
                <a:uFillTx/>
                <a:latin typeface="Noto Sans"/>
              </a:rPr>
              <a:t>OPERATOR</a:t>
            </a:r>
            <a:endParaRPr lang="en-US" sz="900" b="0" u="none" strike="noStrike">
              <a:solidFill>
                <a:srgbClr val="000000"/>
              </a:solidFill>
              <a:effectLst/>
              <a:uFillTx/>
              <a:latin typeface="Arial"/>
            </a:endParaRPr>
          </a:p>
        </p:txBody>
      </p:sp>
      <p:sp>
        <p:nvSpPr>
          <p:cNvPr id="355" name="TextBox 9"/>
          <p:cNvSpPr/>
          <p:nvPr/>
        </p:nvSpPr>
        <p:spPr>
          <a:xfrm>
            <a:off x="1024200" y="2633400"/>
            <a:ext cx="1554120" cy="2466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1300" b="1" u="none" strike="noStrike">
                <a:solidFill>
                  <a:srgbClr val="172B4D"/>
                </a:solidFill>
                <a:effectLst/>
                <a:uFillTx/>
                <a:latin typeface="Noto Sans"/>
              </a:rPr>
              <a:t>Browser UI</a:t>
            </a:r>
            <a:endParaRPr lang="en-US" sz="1300" b="0" u="none" strike="noStrike">
              <a:solidFill>
                <a:srgbClr val="000000"/>
              </a:solidFill>
              <a:effectLst/>
              <a:uFillTx/>
              <a:latin typeface="Arial"/>
            </a:endParaRPr>
          </a:p>
        </p:txBody>
      </p:sp>
      <p:sp>
        <p:nvSpPr>
          <p:cNvPr id="356" name="Rounded Rectangle 10"/>
          <p:cNvSpPr/>
          <p:nvPr/>
        </p:nvSpPr>
        <p:spPr>
          <a:xfrm>
            <a:off x="3410640" y="2139840"/>
            <a:ext cx="2742840" cy="978120"/>
          </a:xfrm>
          <a:prstGeom prst="roundRect">
            <a:avLst>
              <a:gd name="adj" fmla="val 12000"/>
            </a:avLst>
          </a:prstGeom>
          <a:solidFill>
            <a:srgbClr val="EAF2FF"/>
          </a:solidFill>
          <a:ln w="10160">
            <a:solidFill>
              <a:srgbClr val="2563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TextBox 11"/>
          <p:cNvSpPr/>
          <p:nvPr/>
        </p:nvSpPr>
        <p:spPr>
          <a:xfrm>
            <a:off x="3684960" y="2304360"/>
            <a:ext cx="2194200" cy="22824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2563EB"/>
                </a:solidFill>
                <a:effectLst/>
                <a:uFillTx/>
                <a:latin typeface="Noto Sans"/>
              </a:rPr>
              <a:t>NEXT.JS + TYPESCRIPT</a:t>
            </a:r>
            <a:endParaRPr lang="en-US" sz="900" b="0" u="none" strike="noStrike">
              <a:solidFill>
                <a:srgbClr val="000000"/>
              </a:solidFill>
              <a:effectLst/>
              <a:uFillTx/>
              <a:latin typeface="Arial"/>
            </a:endParaRPr>
          </a:p>
        </p:txBody>
      </p:sp>
      <p:sp>
        <p:nvSpPr>
          <p:cNvPr id="358" name="TextBox 12"/>
          <p:cNvSpPr/>
          <p:nvPr/>
        </p:nvSpPr>
        <p:spPr>
          <a:xfrm>
            <a:off x="3684960" y="2615040"/>
            <a:ext cx="2194200" cy="2556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1100" b="1" u="none" strike="noStrike">
                <a:solidFill>
                  <a:srgbClr val="172B4D"/>
                </a:solidFill>
                <a:effectLst/>
                <a:uFillTx/>
                <a:latin typeface="Noto Sans"/>
              </a:rPr>
              <a:t>Pages • APIs • validation</a:t>
            </a:r>
            <a:endParaRPr lang="en-US" sz="1100" b="0" u="none" strike="noStrike">
              <a:solidFill>
                <a:srgbClr val="000000"/>
              </a:solidFill>
              <a:effectLst/>
              <a:uFillTx/>
              <a:latin typeface="Arial"/>
            </a:endParaRPr>
          </a:p>
        </p:txBody>
      </p:sp>
      <p:sp>
        <p:nvSpPr>
          <p:cNvPr id="359" name="Rounded Rectangle 13"/>
          <p:cNvSpPr/>
          <p:nvPr/>
        </p:nvSpPr>
        <p:spPr>
          <a:xfrm>
            <a:off x="6830640" y="2139840"/>
            <a:ext cx="2057040" cy="978120"/>
          </a:xfrm>
          <a:prstGeom prst="roundRect">
            <a:avLst>
              <a:gd name="adj" fmla="val 12000"/>
            </a:avLst>
          </a:prstGeom>
          <a:solidFill>
            <a:srgbClr val="E8F6EF"/>
          </a:solidFill>
          <a:ln w="10160">
            <a:solidFill>
              <a:srgbClr val="167C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14"/>
          <p:cNvSpPr/>
          <p:nvPr/>
        </p:nvSpPr>
        <p:spPr>
          <a:xfrm>
            <a:off x="7059240" y="2304360"/>
            <a:ext cx="1590840" cy="22824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167C5A"/>
                </a:solidFill>
                <a:effectLst/>
                <a:uFillTx/>
                <a:latin typeface="Noto Sans"/>
              </a:rPr>
              <a:t>SQLITE</a:t>
            </a:r>
            <a:endParaRPr lang="en-US" sz="900" b="0" u="none" strike="noStrike">
              <a:solidFill>
                <a:srgbClr val="000000"/>
              </a:solidFill>
              <a:effectLst/>
              <a:uFillTx/>
              <a:latin typeface="Arial"/>
            </a:endParaRPr>
          </a:p>
        </p:txBody>
      </p:sp>
      <p:sp>
        <p:nvSpPr>
          <p:cNvPr id="361" name="TextBox 15"/>
          <p:cNvSpPr/>
          <p:nvPr/>
        </p:nvSpPr>
        <p:spPr>
          <a:xfrm>
            <a:off x="7059240" y="2615040"/>
            <a:ext cx="1590840" cy="25560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1100" b="1" u="none" strike="noStrike">
                <a:solidFill>
                  <a:srgbClr val="172B4D"/>
                </a:solidFill>
                <a:effectLst/>
                <a:uFillTx/>
                <a:latin typeface="Noto Sans"/>
              </a:rPr>
              <a:t>Business records</a:t>
            </a:r>
            <a:endParaRPr lang="en-US" sz="1100" b="0" u="none" strike="noStrike">
              <a:solidFill>
                <a:srgbClr val="000000"/>
              </a:solidFill>
              <a:effectLst/>
              <a:uFillTx/>
              <a:latin typeface="Arial"/>
            </a:endParaRPr>
          </a:p>
        </p:txBody>
      </p:sp>
      <p:cxnSp>
        <p:nvCxnSpPr>
          <p:cNvPr id="362" name="Connector 16"/>
          <p:cNvCxnSpPr/>
          <p:nvPr/>
        </p:nvCxnSpPr>
        <p:spPr>
          <a:xfrm>
            <a:off x="2770560" y="2633400"/>
            <a:ext cx="613080" cy="360"/>
          </a:xfrm>
          <a:prstGeom prst="straightConnector1">
            <a:avLst/>
          </a:prstGeom>
          <a:ln w="22860">
            <a:solidFill>
              <a:srgbClr val="2563EB"/>
            </a:solidFill>
            <a:round/>
          </a:ln>
        </p:spPr>
      </p:cxnSp>
      <p:cxnSp>
        <p:nvCxnSpPr>
          <p:cNvPr id="363" name="Connector 17"/>
          <p:cNvCxnSpPr/>
          <p:nvPr/>
        </p:nvCxnSpPr>
        <p:spPr>
          <a:xfrm>
            <a:off x="6172200" y="2633400"/>
            <a:ext cx="631080" cy="360"/>
          </a:xfrm>
          <a:prstGeom prst="straightConnector1">
            <a:avLst/>
          </a:prstGeom>
          <a:ln w="22860">
            <a:solidFill>
              <a:srgbClr val="167C5A"/>
            </a:solidFill>
            <a:round/>
          </a:ln>
        </p:spPr>
      </p:cxnSp>
      <p:cxnSp>
        <p:nvCxnSpPr>
          <p:cNvPr id="364" name="Connector 18"/>
          <p:cNvCxnSpPr/>
          <p:nvPr/>
        </p:nvCxnSpPr>
        <p:spPr>
          <a:xfrm>
            <a:off x="4782240" y="3154680"/>
            <a:ext cx="360" cy="375120"/>
          </a:xfrm>
          <a:prstGeom prst="straightConnector1">
            <a:avLst/>
          </a:prstGeom>
          <a:ln w="22860">
            <a:solidFill>
              <a:srgbClr val="6941C6"/>
            </a:solidFill>
            <a:round/>
          </a:ln>
        </p:spPr>
      </p:cxnSp>
      <p:sp>
        <p:nvSpPr>
          <p:cNvPr id="365" name="Rounded Rectangle 19"/>
          <p:cNvSpPr/>
          <p:nvPr/>
        </p:nvSpPr>
        <p:spPr>
          <a:xfrm>
            <a:off x="3749040" y="3529440"/>
            <a:ext cx="3931560" cy="813600"/>
          </a:xfrm>
          <a:prstGeom prst="roundRect">
            <a:avLst>
              <a:gd name="adj" fmla="val 12000"/>
            </a:avLst>
          </a:prstGeom>
          <a:solidFill>
            <a:srgbClr val="F1ECFF"/>
          </a:solidFill>
          <a:ln w="10160">
            <a:solidFill>
              <a:srgbClr val="6941C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6" name="TextBox 20"/>
          <p:cNvSpPr/>
          <p:nvPr/>
        </p:nvSpPr>
        <p:spPr>
          <a:xfrm>
            <a:off x="3977640" y="3675960"/>
            <a:ext cx="3474360" cy="20088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900" b="1" u="none" strike="noStrike">
                <a:solidFill>
                  <a:srgbClr val="6941C6"/>
                </a:solidFill>
                <a:effectLst/>
                <a:uFillTx/>
                <a:latin typeface="Noto Sans"/>
              </a:rPr>
              <a:t>FASTAPI MODEL SERVICE</a:t>
            </a:r>
            <a:endParaRPr lang="en-US" sz="900" b="0" u="none" strike="noStrike">
              <a:solidFill>
                <a:srgbClr val="000000"/>
              </a:solidFill>
              <a:effectLst/>
              <a:uFillTx/>
              <a:latin typeface="Arial"/>
            </a:endParaRPr>
          </a:p>
        </p:txBody>
      </p:sp>
      <p:sp>
        <p:nvSpPr>
          <p:cNvPr id="367" name="TextBox 21"/>
          <p:cNvSpPr/>
          <p:nvPr/>
        </p:nvSpPr>
        <p:spPr>
          <a:xfrm>
            <a:off x="3977640" y="3931920"/>
            <a:ext cx="3474360" cy="228240"/>
          </a:xfrm>
          <a:prstGeom prst="rect">
            <a:avLst/>
          </a:prstGeom>
          <a:noFill/>
          <a:ln w="0">
            <a:noFill/>
          </a:ln>
        </p:spPr>
        <p:style>
          <a:lnRef idx="0"/>
          <a:fillRef idx="0"/>
          <a:effectRef idx="0"/>
          <a:fontRef idx="minor"/>
        </p:style>
        <p:txBody>
          <a:bodyPr lIns="18360" tIns="18360" rIns="18360" bIns="18360" anchor="t">
            <a:spAutoFit/>
          </a:bodyPr>
          <a:p>
            <a:pPr algn="ctr" defTabSz="457200">
              <a:lnSpc>
                <a:spcPct val="100000"/>
              </a:lnSpc>
            </a:pPr>
            <a:r>
              <a:rPr lang="en-US" sz="1000" b="1" u="none" strike="noStrike">
                <a:solidFill>
                  <a:srgbClr val="172B4D"/>
                </a:solidFill>
                <a:effectLst/>
                <a:uFillTx/>
                <a:latin typeface="Noto Sans"/>
              </a:rPr>
              <a:t>JSON features  |  prediction response</a:t>
            </a:r>
            <a:endParaRPr lang="en-US" sz="1000" b="0" u="none" strike="noStrike">
              <a:solidFill>
                <a:srgbClr val="000000"/>
              </a:solidFill>
              <a:effectLst/>
              <a:uFillTx/>
              <a:latin typeface="Arial"/>
            </a:endParaRPr>
          </a:p>
        </p:txBody>
      </p:sp>
      <p:sp>
        <p:nvSpPr>
          <p:cNvPr id="368" name="Rounded Rectangle 22"/>
          <p:cNvSpPr/>
          <p:nvPr/>
        </p:nvSpPr>
        <p:spPr>
          <a:xfrm>
            <a:off x="831960" y="4690800"/>
            <a:ext cx="5047200" cy="120672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9" name="TextBox 23"/>
          <p:cNvSpPr/>
          <p:nvPr/>
        </p:nvSpPr>
        <p:spPr>
          <a:xfrm>
            <a:off x="1124640" y="4892040"/>
            <a:ext cx="448020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BUSINESS DATA BOUNDARY</a:t>
            </a:r>
            <a:endParaRPr lang="en-US" sz="900" b="0" u="none" strike="noStrike">
              <a:solidFill>
                <a:srgbClr val="000000"/>
              </a:solidFill>
              <a:effectLst/>
              <a:uFillTx/>
              <a:latin typeface="Arial"/>
            </a:endParaRPr>
          </a:p>
        </p:txBody>
      </p:sp>
      <p:sp>
        <p:nvSpPr>
          <p:cNvPr id="370" name="TextBox 24"/>
          <p:cNvSpPr/>
          <p:nvPr/>
        </p:nvSpPr>
        <p:spPr>
          <a:xfrm>
            <a:off x="1124640" y="5239440"/>
            <a:ext cx="4343040" cy="493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405472"/>
                </a:solidFill>
                <a:effectLst/>
                <a:uFillTx/>
                <a:latin typeface="Noto Sans"/>
              </a:rPr>
              <a:t>SQLite stores recipes, sales, stock, plans and history. The forecast API has no database access.</a:t>
            </a:r>
            <a:endParaRPr lang="en-US" sz="1000" b="0" u="none" strike="noStrike">
              <a:solidFill>
                <a:srgbClr val="000000"/>
              </a:solidFill>
              <a:effectLst/>
              <a:uFillTx/>
              <a:latin typeface="Arial"/>
            </a:endParaRPr>
          </a:p>
        </p:txBody>
      </p:sp>
      <p:sp>
        <p:nvSpPr>
          <p:cNvPr id="371" name="Rounded Rectangle 25"/>
          <p:cNvSpPr/>
          <p:nvPr/>
        </p:nvSpPr>
        <p:spPr>
          <a:xfrm>
            <a:off x="6254640" y="4690800"/>
            <a:ext cx="5230080" cy="120672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2" name="TextBox 26"/>
          <p:cNvSpPr/>
          <p:nvPr/>
        </p:nvSpPr>
        <p:spPr>
          <a:xfrm>
            <a:off x="6537960" y="4892040"/>
            <a:ext cx="459000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A35B09"/>
                </a:solidFill>
                <a:effectLst/>
                <a:uFillTx/>
                <a:latin typeface="Noto Sans"/>
              </a:rPr>
              <a:t>DEPLOYMENT STATUS</a:t>
            </a:r>
            <a:endParaRPr lang="en-US" sz="900" b="0" u="none" strike="noStrike">
              <a:solidFill>
                <a:srgbClr val="000000"/>
              </a:solidFill>
              <a:effectLst/>
              <a:uFillTx/>
              <a:latin typeface="Arial"/>
            </a:endParaRPr>
          </a:p>
        </p:txBody>
      </p:sp>
      <p:sp>
        <p:nvSpPr>
          <p:cNvPr id="373" name="TextBox 27"/>
          <p:cNvSpPr/>
          <p:nvPr/>
        </p:nvSpPr>
        <p:spPr>
          <a:xfrm>
            <a:off x="6537960" y="5239440"/>
            <a:ext cx="4544280" cy="4935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0" u="none" strike="noStrike">
                <a:solidFill>
                  <a:srgbClr val="405472"/>
                </a:solidFill>
                <a:effectLst/>
                <a:uFillTx/>
                <a:latin typeface="Noto Sans"/>
              </a:rPr>
              <a:t>Local setup is documented. RunPod CPU Pod deployment is optional; no live endpoint or Replit deployment is configured.</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374"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08 / INTENDED IMPACT</a:t>
            </a:r>
            <a:endParaRPr lang="en-US" sz="800" b="0" u="none" strike="noStrike">
              <a:solidFill>
                <a:srgbClr val="000000"/>
              </a:solidFill>
              <a:effectLst/>
              <a:uFillTx/>
              <a:latin typeface="Arial"/>
            </a:endParaRPr>
          </a:p>
        </p:txBody>
      </p:sp>
      <p:sp>
        <p:nvSpPr>
          <p:cNvPr id="375"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SDG 12 alignment is a hypothesis to measure—not a result to claim</a:t>
            </a:r>
            <a:endParaRPr lang="en-US" sz="2500" b="0" u="none" strike="noStrike">
              <a:solidFill>
                <a:srgbClr val="000000"/>
              </a:solidFill>
              <a:effectLst/>
              <a:uFillTx/>
              <a:latin typeface="Arial"/>
            </a:endParaRPr>
          </a:p>
        </p:txBody>
      </p:sp>
      <p:sp>
        <p:nvSpPr>
          <p:cNvPr id="376"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The product is designed to support more deliberate preparation and purchasing decisions.</a:t>
            </a:r>
            <a:endParaRPr lang="en-US" sz="1100" b="0" u="none" strike="noStrike">
              <a:solidFill>
                <a:srgbClr val="000000"/>
              </a:solidFill>
              <a:effectLst/>
              <a:uFillTx/>
              <a:latin typeface="Arial"/>
            </a:endParaRPr>
          </a:p>
        </p:txBody>
      </p:sp>
      <p:cxnSp>
        <p:nvCxnSpPr>
          <p:cNvPr id="377" name="Connector 4"/>
          <p:cNvCxnSpPr/>
          <p:nvPr/>
        </p:nvCxnSpPr>
        <p:spPr>
          <a:xfrm>
            <a:off x="566640" y="1481040"/>
            <a:ext cx="11046600" cy="360"/>
          </a:xfrm>
          <a:prstGeom prst="straightConnector1">
            <a:avLst/>
          </a:prstGeom>
          <a:ln w="10160">
            <a:solidFill>
              <a:srgbClr val="DCE5F0"/>
            </a:solidFill>
            <a:round/>
          </a:ln>
        </p:spPr>
      </p:cxnSp>
      <p:sp>
        <p:nvSpPr>
          <p:cNvPr id="378"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09</a:t>
            </a:r>
            <a:endParaRPr lang="en-US" sz="800" b="0" u="none" strike="noStrike">
              <a:solidFill>
                <a:srgbClr val="000000"/>
              </a:solidFill>
              <a:effectLst/>
              <a:uFillTx/>
              <a:latin typeface="Arial"/>
            </a:endParaRPr>
          </a:p>
        </p:txBody>
      </p:sp>
      <p:sp>
        <p:nvSpPr>
          <p:cNvPr id="379"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380" name="Rounded Rectangle 7"/>
          <p:cNvSpPr/>
          <p:nvPr/>
        </p:nvSpPr>
        <p:spPr>
          <a:xfrm>
            <a:off x="758880" y="1847160"/>
            <a:ext cx="3675600" cy="409608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1" name="Rounded Rectangle 8"/>
          <p:cNvSpPr/>
          <p:nvPr/>
        </p:nvSpPr>
        <p:spPr>
          <a:xfrm>
            <a:off x="1051560" y="2139840"/>
            <a:ext cx="9597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9"/>
          <p:cNvSpPr/>
          <p:nvPr/>
        </p:nvSpPr>
        <p:spPr>
          <a:xfrm>
            <a:off x="1106280" y="2162520"/>
            <a:ext cx="8499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167C5A"/>
                </a:solidFill>
                <a:effectLst/>
                <a:uFillTx/>
                <a:latin typeface="Noto Sans"/>
              </a:rPr>
              <a:t>SDG 12</a:t>
            </a:r>
            <a:endParaRPr lang="en-US" sz="800" b="0" u="none" strike="noStrike">
              <a:solidFill>
                <a:srgbClr val="000000"/>
              </a:solidFill>
              <a:effectLst/>
              <a:uFillTx/>
              <a:latin typeface="Arial"/>
            </a:endParaRPr>
          </a:p>
        </p:txBody>
      </p:sp>
      <p:sp>
        <p:nvSpPr>
          <p:cNvPr id="383" name="TextBox 10"/>
          <p:cNvSpPr/>
          <p:nvPr/>
        </p:nvSpPr>
        <p:spPr>
          <a:xfrm>
            <a:off x="1051560" y="2697480"/>
            <a:ext cx="3062880" cy="849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2300" b="1" u="none" strike="noStrike">
                <a:solidFill>
                  <a:srgbClr val="172B4D"/>
                </a:solidFill>
                <a:effectLst/>
                <a:uFillTx/>
                <a:latin typeface="Noto Sans"/>
              </a:rPr>
              <a:t>Responsible</a:t>
            </a:r>
            <a:endParaRPr lang="en-US" sz="2300" b="0" u="none" strike="noStrike">
              <a:solidFill>
                <a:srgbClr val="000000"/>
              </a:solidFill>
              <a:effectLst/>
              <a:uFillTx/>
              <a:latin typeface="Arial"/>
            </a:endParaRPr>
          </a:p>
          <a:p>
            <a:pPr defTabSz="457200">
              <a:lnSpc>
                <a:spcPct val="100000"/>
              </a:lnSpc>
            </a:pPr>
            <a:r>
              <a:rPr lang="en-US" sz="2300" b="1" u="none" strike="noStrike">
                <a:solidFill>
                  <a:srgbClr val="172B4D"/>
                </a:solidFill>
                <a:effectLst/>
                <a:uFillTx/>
                <a:latin typeface="Noto Sans"/>
              </a:rPr>
              <a:t>Consumption</a:t>
            </a:r>
            <a:endParaRPr lang="en-US" sz="2300" b="0" u="none" strike="noStrike">
              <a:solidFill>
                <a:srgbClr val="000000"/>
              </a:solidFill>
              <a:effectLst/>
              <a:uFillTx/>
              <a:latin typeface="Arial"/>
            </a:endParaRPr>
          </a:p>
        </p:txBody>
      </p:sp>
      <p:sp>
        <p:nvSpPr>
          <p:cNvPr id="384" name="TextBox 11"/>
          <p:cNvSpPr/>
          <p:nvPr/>
        </p:nvSpPr>
        <p:spPr>
          <a:xfrm>
            <a:off x="1078920" y="3776400"/>
            <a:ext cx="2880000" cy="11516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0" u="none" strike="noStrike">
                <a:solidFill>
                  <a:srgbClr val="405472"/>
                </a:solidFill>
                <a:effectLst/>
                <a:uFillTx/>
                <a:latin typeface="Noto Sans"/>
              </a:rPr>
              <a:t>A better-informed prep plan may help operators align production with demand and stock.</a:t>
            </a:r>
            <a:endParaRPr lang="en-US" sz="1300" b="0" u="none" strike="noStrike">
              <a:solidFill>
                <a:srgbClr val="000000"/>
              </a:solidFill>
              <a:effectLst/>
              <a:uFillTx/>
              <a:latin typeface="Arial"/>
            </a:endParaRPr>
          </a:p>
        </p:txBody>
      </p:sp>
      <p:sp>
        <p:nvSpPr>
          <p:cNvPr id="385" name="TextBox 12"/>
          <p:cNvSpPr/>
          <p:nvPr/>
        </p:nvSpPr>
        <p:spPr>
          <a:xfrm>
            <a:off x="1078920" y="5266800"/>
            <a:ext cx="2834280" cy="356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167C5A"/>
                </a:solidFill>
                <a:effectLst/>
                <a:uFillTx/>
                <a:latin typeface="Noto Sans"/>
              </a:rPr>
              <a:t>Potential contribution; not yet measured.</a:t>
            </a:r>
            <a:endParaRPr lang="en-US" sz="900" b="0" u="none" strike="noStrike">
              <a:solidFill>
                <a:srgbClr val="000000"/>
              </a:solidFill>
              <a:effectLst/>
              <a:uFillTx/>
              <a:latin typeface="Arial"/>
            </a:endParaRPr>
          </a:p>
        </p:txBody>
      </p:sp>
      <p:sp>
        <p:nvSpPr>
          <p:cNvPr id="386" name="Rounded Rectangle 13"/>
          <p:cNvSpPr/>
          <p:nvPr/>
        </p:nvSpPr>
        <p:spPr>
          <a:xfrm>
            <a:off x="4782240" y="1847160"/>
            <a:ext cx="6656400" cy="409608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7" name="TextBox 14"/>
          <p:cNvSpPr/>
          <p:nvPr/>
        </p:nvSpPr>
        <p:spPr>
          <a:xfrm>
            <a:off x="5111640" y="2148840"/>
            <a:ext cx="5851800" cy="2556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1" u="none" strike="noStrike">
                <a:solidFill>
                  <a:srgbClr val="2563EB"/>
                </a:solidFill>
                <a:effectLst/>
                <a:uFillTx/>
                <a:latin typeface="Noto Sans"/>
              </a:rPr>
              <a:t>PILOT MEASUREMENT PLAN</a:t>
            </a:r>
            <a:endParaRPr lang="en-US" sz="900" b="0" u="none" strike="noStrike">
              <a:solidFill>
                <a:srgbClr val="000000"/>
              </a:solidFill>
              <a:effectLst/>
              <a:uFillTx/>
              <a:latin typeface="Arial"/>
            </a:endParaRPr>
          </a:p>
        </p:txBody>
      </p:sp>
      <p:sp>
        <p:nvSpPr>
          <p:cNvPr id="388" name="Oval 15"/>
          <p:cNvSpPr/>
          <p:nvPr/>
        </p:nvSpPr>
        <p:spPr>
          <a:xfrm>
            <a:off x="5139000" y="2706480"/>
            <a:ext cx="219240" cy="21924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9" name="TextBox 16"/>
          <p:cNvSpPr/>
          <p:nvPr/>
        </p:nvSpPr>
        <p:spPr>
          <a:xfrm>
            <a:off x="5513760" y="2679120"/>
            <a:ext cx="182844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Forecast error</a:t>
            </a:r>
            <a:endParaRPr lang="en-US" sz="1000" b="0" u="none" strike="noStrike">
              <a:solidFill>
                <a:srgbClr val="000000"/>
              </a:solidFill>
              <a:effectLst/>
              <a:uFillTx/>
              <a:latin typeface="Arial"/>
            </a:endParaRPr>
          </a:p>
        </p:txBody>
      </p:sp>
      <p:sp>
        <p:nvSpPr>
          <p:cNvPr id="390" name="TextBox 17"/>
          <p:cNvSpPr/>
          <p:nvPr/>
        </p:nvSpPr>
        <p:spPr>
          <a:xfrm>
            <a:off x="7415640" y="2679120"/>
            <a:ext cx="3547440" cy="402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MAE by menu; compare with last-week baseline.</a:t>
            </a:r>
            <a:endParaRPr lang="en-US" sz="900" b="0" u="none" strike="noStrike">
              <a:solidFill>
                <a:srgbClr val="000000"/>
              </a:solidFill>
              <a:effectLst/>
              <a:uFillTx/>
              <a:latin typeface="Arial"/>
            </a:endParaRPr>
          </a:p>
        </p:txBody>
      </p:sp>
      <p:cxnSp>
        <p:nvCxnSpPr>
          <p:cNvPr id="391" name="Connector 18"/>
          <p:cNvCxnSpPr/>
          <p:nvPr/>
        </p:nvCxnSpPr>
        <p:spPr>
          <a:xfrm>
            <a:off x="5504400" y="3191040"/>
            <a:ext cx="5441040" cy="360"/>
          </a:xfrm>
          <a:prstGeom prst="straightConnector1">
            <a:avLst/>
          </a:prstGeom>
          <a:ln w="8890">
            <a:solidFill>
              <a:srgbClr val="DCE5F0"/>
            </a:solidFill>
            <a:round/>
          </a:ln>
        </p:spPr>
      </p:cxnSp>
      <p:sp>
        <p:nvSpPr>
          <p:cNvPr id="392" name="Oval 19"/>
          <p:cNvSpPr/>
          <p:nvPr/>
        </p:nvSpPr>
        <p:spPr>
          <a:xfrm>
            <a:off x="5139000" y="3420000"/>
            <a:ext cx="219240" cy="21924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3" name="TextBox 20"/>
          <p:cNvSpPr/>
          <p:nvPr/>
        </p:nvSpPr>
        <p:spPr>
          <a:xfrm>
            <a:off x="5513760" y="3392280"/>
            <a:ext cx="182844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Preparation variance</a:t>
            </a:r>
            <a:endParaRPr lang="en-US" sz="1000" b="0" u="none" strike="noStrike">
              <a:solidFill>
                <a:srgbClr val="000000"/>
              </a:solidFill>
              <a:effectLst/>
              <a:uFillTx/>
              <a:latin typeface="Arial"/>
            </a:endParaRPr>
          </a:p>
        </p:txBody>
      </p:sp>
      <p:sp>
        <p:nvSpPr>
          <p:cNvPr id="394" name="TextBox 21"/>
          <p:cNvSpPr/>
          <p:nvPr/>
        </p:nvSpPr>
        <p:spPr>
          <a:xfrm>
            <a:off x="7415640" y="3392280"/>
            <a:ext cx="3547440" cy="402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Planned servings vs. servings sold and remaining.</a:t>
            </a:r>
            <a:endParaRPr lang="en-US" sz="900" b="0" u="none" strike="noStrike">
              <a:solidFill>
                <a:srgbClr val="000000"/>
              </a:solidFill>
              <a:effectLst/>
              <a:uFillTx/>
              <a:latin typeface="Arial"/>
            </a:endParaRPr>
          </a:p>
        </p:txBody>
      </p:sp>
      <p:cxnSp>
        <p:nvCxnSpPr>
          <p:cNvPr id="395" name="Connector 22"/>
          <p:cNvCxnSpPr/>
          <p:nvPr/>
        </p:nvCxnSpPr>
        <p:spPr>
          <a:xfrm>
            <a:off x="5504400" y="3904200"/>
            <a:ext cx="5441040" cy="360"/>
          </a:xfrm>
          <a:prstGeom prst="straightConnector1">
            <a:avLst/>
          </a:prstGeom>
          <a:ln w="8890">
            <a:solidFill>
              <a:srgbClr val="DCE5F0"/>
            </a:solidFill>
            <a:round/>
          </a:ln>
        </p:spPr>
      </p:cxnSp>
      <p:sp>
        <p:nvSpPr>
          <p:cNvPr id="396" name="Oval 23"/>
          <p:cNvSpPr/>
          <p:nvPr/>
        </p:nvSpPr>
        <p:spPr>
          <a:xfrm>
            <a:off x="5139000" y="4133160"/>
            <a:ext cx="219240" cy="21924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7" name="TextBox 24"/>
          <p:cNvSpPr/>
          <p:nvPr/>
        </p:nvSpPr>
        <p:spPr>
          <a:xfrm>
            <a:off x="5513760" y="4105800"/>
            <a:ext cx="182844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Ingredient outcome</a:t>
            </a:r>
            <a:endParaRPr lang="en-US" sz="1000" b="0" u="none" strike="noStrike">
              <a:solidFill>
                <a:srgbClr val="000000"/>
              </a:solidFill>
              <a:effectLst/>
              <a:uFillTx/>
              <a:latin typeface="Arial"/>
            </a:endParaRPr>
          </a:p>
        </p:txBody>
      </p:sp>
      <p:sp>
        <p:nvSpPr>
          <p:cNvPr id="398" name="TextBox 25"/>
          <p:cNvSpPr/>
          <p:nvPr/>
        </p:nvSpPr>
        <p:spPr>
          <a:xfrm>
            <a:off x="7415640" y="4105800"/>
            <a:ext cx="3547440" cy="402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Shortage flags, extra purchases and unused stock.</a:t>
            </a:r>
            <a:endParaRPr lang="en-US" sz="900" b="0" u="none" strike="noStrike">
              <a:solidFill>
                <a:srgbClr val="000000"/>
              </a:solidFill>
              <a:effectLst/>
              <a:uFillTx/>
              <a:latin typeface="Arial"/>
            </a:endParaRPr>
          </a:p>
        </p:txBody>
      </p:sp>
      <p:cxnSp>
        <p:nvCxnSpPr>
          <p:cNvPr id="399" name="Connector 26"/>
          <p:cNvCxnSpPr/>
          <p:nvPr/>
        </p:nvCxnSpPr>
        <p:spPr>
          <a:xfrm>
            <a:off x="5504400" y="4617720"/>
            <a:ext cx="5441040" cy="360"/>
          </a:xfrm>
          <a:prstGeom prst="straightConnector1">
            <a:avLst/>
          </a:prstGeom>
          <a:ln w="8890">
            <a:solidFill>
              <a:srgbClr val="DCE5F0"/>
            </a:solidFill>
            <a:round/>
          </a:ln>
        </p:spPr>
      </p:cxnSp>
      <p:sp>
        <p:nvSpPr>
          <p:cNvPr id="400" name="Oval 27"/>
          <p:cNvSpPr/>
          <p:nvPr/>
        </p:nvSpPr>
        <p:spPr>
          <a:xfrm>
            <a:off x="5139000" y="4846320"/>
            <a:ext cx="219240" cy="21924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1" name="TextBox 28"/>
          <p:cNvSpPr/>
          <p:nvPr/>
        </p:nvSpPr>
        <p:spPr>
          <a:xfrm>
            <a:off x="5513760" y="4818960"/>
            <a:ext cx="1828440" cy="228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172B4D"/>
                </a:solidFill>
                <a:effectLst/>
                <a:uFillTx/>
                <a:latin typeface="Noto Sans"/>
              </a:rPr>
              <a:t>Workflow adoption</a:t>
            </a:r>
            <a:endParaRPr lang="en-US" sz="1000" b="0" u="none" strike="noStrike">
              <a:solidFill>
                <a:srgbClr val="000000"/>
              </a:solidFill>
              <a:effectLst/>
              <a:uFillTx/>
              <a:latin typeface="Arial"/>
            </a:endParaRPr>
          </a:p>
        </p:txBody>
      </p:sp>
      <p:sp>
        <p:nvSpPr>
          <p:cNvPr id="402" name="TextBox 29"/>
          <p:cNvSpPr/>
          <p:nvPr/>
        </p:nvSpPr>
        <p:spPr>
          <a:xfrm>
            <a:off x="7415640" y="4818960"/>
            <a:ext cx="3547440" cy="40212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Days with complete records; time to create a plan.</a:t>
            </a:r>
            <a:endParaRPr lang="en-US" sz="900" b="0" u="none" strike="noStrike">
              <a:solidFill>
                <a:srgbClr val="000000"/>
              </a:solidFill>
              <a:effectLst/>
              <a:uFillTx/>
              <a:latin typeface="Arial"/>
            </a:endParaRPr>
          </a:p>
        </p:txBody>
      </p:sp>
      <p:sp>
        <p:nvSpPr>
          <p:cNvPr id="403" name="Rounded Rectangle 30"/>
          <p:cNvSpPr/>
          <p:nvPr/>
        </p:nvSpPr>
        <p:spPr>
          <a:xfrm>
            <a:off x="5120640" y="5605200"/>
            <a:ext cx="5833440" cy="18252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4" name="TextBox 31"/>
          <p:cNvSpPr/>
          <p:nvPr/>
        </p:nvSpPr>
        <p:spPr>
          <a:xfrm>
            <a:off x="5212080" y="5591520"/>
            <a:ext cx="5650560" cy="200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700" b="1" u="none" strike="noStrike">
                <a:solidFill>
                  <a:srgbClr val="2563EB"/>
                </a:solidFill>
                <a:effectLst/>
                <a:uFillTx/>
                <a:latin typeface="Noto Sans"/>
              </a:rPr>
              <a:t>Pilot baseline first; collect outcomes only with operator consent.</a:t>
            </a:r>
            <a:endParaRPr lang="en-US" sz="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405"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09 / EVIDENCE &amp; SAFEGUARDS</a:t>
            </a:r>
            <a:endParaRPr lang="en-US" sz="800" b="0" u="none" strike="noStrike">
              <a:solidFill>
                <a:srgbClr val="000000"/>
              </a:solidFill>
              <a:effectLst/>
              <a:uFillTx/>
              <a:latin typeface="Arial"/>
            </a:endParaRPr>
          </a:p>
        </p:txBody>
      </p:sp>
      <p:sp>
        <p:nvSpPr>
          <p:cNvPr id="406"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What is working today—and what still needs proof</a:t>
            </a:r>
            <a:endParaRPr lang="en-US" sz="2500" b="0" u="none" strike="noStrike">
              <a:solidFill>
                <a:srgbClr val="000000"/>
              </a:solidFill>
              <a:effectLst/>
              <a:uFillTx/>
              <a:latin typeface="Arial"/>
            </a:endParaRPr>
          </a:p>
        </p:txBody>
      </p:sp>
      <p:sp>
        <p:nvSpPr>
          <p:cNvPr id="407"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Credibility comes from making the boundaries visible and validating the next step.</a:t>
            </a:r>
            <a:endParaRPr lang="en-US" sz="1100" b="0" u="none" strike="noStrike">
              <a:solidFill>
                <a:srgbClr val="000000"/>
              </a:solidFill>
              <a:effectLst/>
              <a:uFillTx/>
              <a:latin typeface="Arial"/>
            </a:endParaRPr>
          </a:p>
        </p:txBody>
      </p:sp>
      <p:cxnSp>
        <p:nvCxnSpPr>
          <p:cNvPr id="408" name="Connector 4"/>
          <p:cNvCxnSpPr/>
          <p:nvPr/>
        </p:nvCxnSpPr>
        <p:spPr>
          <a:xfrm>
            <a:off x="566640" y="1481040"/>
            <a:ext cx="11046600" cy="360"/>
          </a:xfrm>
          <a:prstGeom prst="straightConnector1">
            <a:avLst/>
          </a:prstGeom>
          <a:ln w="10160">
            <a:solidFill>
              <a:srgbClr val="DCE5F0"/>
            </a:solidFill>
            <a:round/>
          </a:ln>
        </p:spPr>
      </p:cxnSp>
      <p:sp>
        <p:nvSpPr>
          <p:cNvPr id="409"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10</a:t>
            </a:r>
            <a:endParaRPr lang="en-US" sz="800" b="0" u="none" strike="noStrike">
              <a:solidFill>
                <a:srgbClr val="000000"/>
              </a:solidFill>
              <a:effectLst/>
              <a:uFillTx/>
              <a:latin typeface="Arial"/>
            </a:endParaRPr>
          </a:p>
        </p:txBody>
      </p:sp>
      <p:sp>
        <p:nvSpPr>
          <p:cNvPr id="410"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411" name="Rounded Rectangle 7"/>
          <p:cNvSpPr/>
          <p:nvPr/>
        </p:nvSpPr>
        <p:spPr>
          <a:xfrm>
            <a:off x="749880" y="1828800"/>
            <a:ext cx="5211720" cy="4169160"/>
          </a:xfrm>
          <a:prstGeom prst="roundRect">
            <a:avLst>
              <a:gd name="adj" fmla="val 12000"/>
            </a:avLst>
          </a:prstGeom>
          <a:solidFill>
            <a:srgbClr val="FFFFFF"/>
          </a:solidFill>
          <a:ln w="10160">
            <a:solidFill>
              <a:srgbClr val="DCE5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2" name="Rounded Rectangle 8"/>
          <p:cNvSpPr/>
          <p:nvPr/>
        </p:nvSpPr>
        <p:spPr>
          <a:xfrm>
            <a:off x="1042560" y="2094120"/>
            <a:ext cx="1371240" cy="27396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9"/>
          <p:cNvSpPr/>
          <p:nvPr/>
        </p:nvSpPr>
        <p:spPr>
          <a:xfrm>
            <a:off x="1097280" y="2116800"/>
            <a:ext cx="126144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167C5A"/>
                </a:solidFill>
                <a:effectLst/>
                <a:uFillTx/>
                <a:latin typeface="Noto Sans"/>
              </a:rPr>
              <a:t>IMPLEMENTED</a:t>
            </a:r>
            <a:endParaRPr lang="en-US" sz="800" b="0" u="none" strike="noStrike">
              <a:solidFill>
                <a:srgbClr val="000000"/>
              </a:solidFill>
              <a:effectLst/>
              <a:uFillTx/>
              <a:latin typeface="Arial"/>
            </a:endParaRPr>
          </a:p>
        </p:txBody>
      </p:sp>
      <p:sp>
        <p:nvSpPr>
          <p:cNvPr id="414" name="Oval 10"/>
          <p:cNvSpPr/>
          <p:nvPr/>
        </p:nvSpPr>
        <p:spPr>
          <a:xfrm>
            <a:off x="1069920" y="2660760"/>
            <a:ext cx="145800" cy="14580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5" name="TextBox 11"/>
          <p:cNvSpPr/>
          <p:nvPr/>
        </p:nvSpPr>
        <p:spPr>
          <a:xfrm>
            <a:off x="1353240" y="2633400"/>
            <a:ext cx="422424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Input checks for dates, quantities, units and required menu rows.</a:t>
            </a:r>
            <a:endParaRPr lang="en-US" sz="900" b="0" u="none" strike="noStrike">
              <a:solidFill>
                <a:srgbClr val="000000"/>
              </a:solidFill>
              <a:effectLst/>
              <a:uFillTx/>
              <a:latin typeface="Arial"/>
            </a:endParaRPr>
          </a:p>
        </p:txBody>
      </p:sp>
      <p:sp>
        <p:nvSpPr>
          <p:cNvPr id="416" name="Oval 12"/>
          <p:cNvSpPr/>
          <p:nvPr/>
        </p:nvSpPr>
        <p:spPr>
          <a:xfrm>
            <a:off x="1069920" y="3227760"/>
            <a:ext cx="145800" cy="14580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7" name="TextBox 13"/>
          <p:cNvSpPr/>
          <p:nvPr/>
        </p:nvSpPr>
        <p:spPr>
          <a:xfrm>
            <a:off x="1353240" y="3200400"/>
            <a:ext cx="422424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Seven-day completeness gate; missing history is surfaced.</a:t>
            </a:r>
            <a:endParaRPr lang="en-US" sz="900" b="0" u="none" strike="noStrike">
              <a:solidFill>
                <a:srgbClr val="000000"/>
              </a:solidFill>
              <a:effectLst/>
              <a:uFillTx/>
              <a:latin typeface="Arial"/>
            </a:endParaRPr>
          </a:p>
        </p:txBody>
      </p:sp>
      <p:sp>
        <p:nvSpPr>
          <p:cNvPr id="418" name="Oval 14"/>
          <p:cNvSpPr/>
          <p:nvPr/>
        </p:nvSpPr>
        <p:spPr>
          <a:xfrm>
            <a:off x="1069920" y="3794760"/>
            <a:ext cx="145800" cy="14580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9" name="TextBox 15"/>
          <p:cNvSpPr/>
          <p:nvPr/>
        </p:nvSpPr>
        <p:spPr>
          <a:xfrm>
            <a:off x="1353240" y="3767400"/>
            <a:ext cx="422424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Chronological model validation and a last-week baseline.</a:t>
            </a:r>
            <a:endParaRPr lang="en-US" sz="900" b="0" u="none" strike="noStrike">
              <a:solidFill>
                <a:srgbClr val="000000"/>
              </a:solidFill>
              <a:effectLst/>
              <a:uFillTx/>
              <a:latin typeface="Arial"/>
            </a:endParaRPr>
          </a:p>
        </p:txBody>
      </p:sp>
      <p:sp>
        <p:nvSpPr>
          <p:cNvPr id="420" name="Oval 16"/>
          <p:cNvSpPr/>
          <p:nvPr/>
        </p:nvSpPr>
        <p:spPr>
          <a:xfrm>
            <a:off x="1069920" y="4361760"/>
            <a:ext cx="145800" cy="14580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1" name="TextBox 17"/>
          <p:cNvSpPr/>
          <p:nvPr/>
        </p:nvSpPr>
        <p:spPr>
          <a:xfrm>
            <a:off x="1353240" y="4334400"/>
            <a:ext cx="422424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Re-training excludes demo-provenance, incomplete and sold-out observations.</a:t>
            </a:r>
            <a:endParaRPr lang="en-US" sz="900" b="0" u="none" strike="noStrike">
              <a:solidFill>
                <a:srgbClr val="000000"/>
              </a:solidFill>
              <a:effectLst/>
              <a:uFillTx/>
              <a:latin typeface="Arial"/>
            </a:endParaRPr>
          </a:p>
        </p:txBody>
      </p:sp>
      <p:sp>
        <p:nvSpPr>
          <p:cNvPr id="422" name="Oval 18"/>
          <p:cNvSpPr/>
          <p:nvPr/>
        </p:nvSpPr>
        <p:spPr>
          <a:xfrm>
            <a:off x="1069920" y="4928760"/>
            <a:ext cx="145800" cy="145800"/>
          </a:xfrm>
          <a:prstGeom prst="ellipse">
            <a:avLst/>
          </a:prstGeom>
          <a:solidFill>
            <a:srgbClr val="167C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3" name="TextBox 19"/>
          <p:cNvSpPr/>
          <p:nvPr/>
        </p:nvSpPr>
        <p:spPr>
          <a:xfrm>
            <a:off x="1353240" y="4901040"/>
            <a:ext cx="422424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Current code requires 84 complete non-demo days before retraining.</a:t>
            </a:r>
            <a:endParaRPr lang="en-US" sz="900" b="0" u="none" strike="noStrike">
              <a:solidFill>
                <a:srgbClr val="000000"/>
              </a:solidFill>
              <a:effectLst/>
              <a:uFillTx/>
              <a:latin typeface="Arial"/>
            </a:endParaRPr>
          </a:p>
        </p:txBody>
      </p:sp>
      <p:sp>
        <p:nvSpPr>
          <p:cNvPr id="424" name="Rounded Rectangle 20"/>
          <p:cNvSpPr/>
          <p:nvPr/>
        </p:nvSpPr>
        <p:spPr>
          <a:xfrm>
            <a:off x="6291000" y="1828800"/>
            <a:ext cx="5138640" cy="416916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5" name="Rounded Rectangle 21"/>
          <p:cNvSpPr/>
          <p:nvPr/>
        </p:nvSpPr>
        <p:spPr>
          <a:xfrm>
            <a:off x="6574680" y="2094120"/>
            <a:ext cx="16455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6" name="TextBox 22"/>
          <p:cNvSpPr/>
          <p:nvPr/>
        </p:nvSpPr>
        <p:spPr>
          <a:xfrm>
            <a:off x="6629400" y="2116800"/>
            <a:ext cx="15357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A35B09"/>
                </a:solidFill>
                <a:effectLst/>
                <a:uFillTx/>
                <a:latin typeface="Noto Sans"/>
              </a:rPr>
              <a:t>LIMITS TO ADDRESS</a:t>
            </a:r>
            <a:endParaRPr lang="en-US" sz="800" b="0" u="none" strike="noStrike">
              <a:solidFill>
                <a:srgbClr val="000000"/>
              </a:solidFill>
              <a:effectLst/>
              <a:uFillTx/>
              <a:latin typeface="Arial"/>
            </a:endParaRPr>
          </a:p>
        </p:txBody>
      </p:sp>
      <p:sp>
        <p:nvSpPr>
          <p:cNvPr id="427" name="Oval 23"/>
          <p:cNvSpPr/>
          <p:nvPr/>
        </p:nvSpPr>
        <p:spPr>
          <a:xfrm>
            <a:off x="6602040" y="2660760"/>
            <a:ext cx="145800" cy="145800"/>
          </a:xfrm>
          <a:prstGeom prst="ellipse">
            <a:avLst/>
          </a:prstGeom>
          <a:solidFill>
            <a:srgbClr val="A35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8" name="TextBox 24"/>
          <p:cNvSpPr/>
          <p:nvPr/>
        </p:nvSpPr>
        <p:spPr>
          <a:xfrm>
            <a:off x="6885360" y="2633400"/>
            <a:ext cx="409608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The shipped model was trained and tested on synthetic data only.</a:t>
            </a:r>
            <a:endParaRPr lang="en-US" sz="900" b="0" u="none" strike="noStrike">
              <a:solidFill>
                <a:srgbClr val="000000"/>
              </a:solidFill>
              <a:effectLst/>
              <a:uFillTx/>
              <a:latin typeface="Arial"/>
            </a:endParaRPr>
          </a:p>
        </p:txBody>
      </p:sp>
      <p:sp>
        <p:nvSpPr>
          <p:cNvPr id="429" name="Oval 25"/>
          <p:cNvSpPr/>
          <p:nvPr/>
        </p:nvSpPr>
        <p:spPr>
          <a:xfrm>
            <a:off x="6602040" y="3227760"/>
            <a:ext cx="145800" cy="145800"/>
          </a:xfrm>
          <a:prstGeom prst="ellipse">
            <a:avLst/>
          </a:prstGeom>
          <a:solidFill>
            <a:srgbClr val="A35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0" name="TextBox 26"/>
          <p:cNvSpPr/>
          <p:nvPr/>
        </p:nvSpPr>
        <p:spPr>
          <a:xfrm>
            <a:off x="6885360" y="3200400"/>
            <a:ext cx="409608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No real-restaurant accuracy or waste reduction is established.</a:t>
            </a:r>
            <a:endParaRPr lang="en-US" sz="900" b="0" u="none" strike="noStrike">
              <a:solidFill>
                <a:srgbClr val="000000"/>
              </a:solidFill>
              <a:effectLst/>
              <a:uFillTx/>
              <a:latin typeface="Arial"/>
            </a:endParaRPr>
          </a:p>
        </p:txBody>
      </p:sp>
      <p:sp>
        <p:nvSpPr>
          <p:cNvPr id="431" name="Oval 27"/>
          <p:cNvSpPr/>
          <p:nvPr/>
        </p:nvSpPr>
        <p:spPr>
          <a:xfrm>
            <a:off x="6602040" y="3794760"/>
            <a:ext cx="145800" cy="145800"/>
          </a:xfrm>
          <a:prstGeom prst="ellipse">
            <a:avLst/>
          </a:prstGeom>
          <a:solidFill>
            <a:srgbClr val="A35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2" name="TextBox 28"/>
          <p:cNvSpPr/>
          <p:nvPr/>
        </p:nvSpPr>
        <p:spPr>
          <a:xfrm>
            <a:off x="6885360" y="3767400"/>
            <a:ext cx="409608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Fixed owner/staff demo accounts are not production authentication.</a:t>
            </a:r>
            <a:endParaRPr lang="en-US" sz="900" b="0" u="none" strike="noStrike">
              <a:solidFill>
                <a:srgbClr val="000000"/>
              </a:solidFill>
              <a:effectLst/>
              <a:uFillTx/>
              <a:latin typeface="Arial"/>
            </a:endParaRPr>
          </a:p>
        </p:txBody>
      </p:sp>
      <p:sp>
        <p:nvSpPr>
          <p:cNvPr id="433" name="Oval 29"/>
          <p:cNvSpPr/>
          <p:nvPr/>
        </p:nvSpPr>
        <p:spPr>
          <a:xfrm>
            <a:off x="6602040" y="4361760"/>
            <a:ext cx="145800" cy="145800"/>
          </a:xfrm>
          <a:prstGeom prst="ellipse">
            <a:avLst/>
          </a:prstGeom>
          <a:solidFill>
            <a:srgbClr val="A35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4" name="TextBox 30"/>
          <p:cNvSpPr/>
          <p:nvPr/>
        </p:nvSpPr>
        <p:spPr>
          <a:xfrm>
            <a:off x="6885360" y="4334400"/>
            <a:ext cx="409608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SQLite is single-machine prototype storage; deployment persistence is unverified.</a:t>
            </a:r>
            <a:endParaRPr lang="en-US" sz="900" b="0" u="none" strike="noStrike">
              <a:solidFill>
                <a:srgbClr val="000000"/>
              </a:solidFill>
              <a:effectLst/>
              <a:uFillTx/>
              <a:latin typeface="Arial"/>
            </a:endParaRPr>
          </a:p>
        </p:txBody>
      </p:sp>
      <p:sp>
        <p:nvSpPr>
          <p:cNvPr id="435" name="Oval 31"/>
          <p:cNvSpPr/>
          <p:nvPr/>
        </p:nvSpPr>
        <p:spPr>
          <a:xfrm>
            <a:off x="6602040" y="4928760"/>
            <a:ext cx="145800" cy="145800"/>
          </a:xfrm>
          <a:prstGeom prst="ellipse">
            <a:avLst/>
          </a:prstGeom>
          <a:solidFill>
            <a:srgbClr val="A35B0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6" name="TextBox 32"/>
          <p:cNvSpPr/>
          <p:nvPr/>
        </p:nvSpPr>
        <p:spPr>
          <a:xfrm>
            <a:off x="6885360" y="4901040"/>
            <a:ext cx="4096080" cy="4384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405472"/>
                </a:solidFill>
                <a:effectLst/>
                <a:uFillTx/>
                <a:latin typeface="Noto Sans"/>
              </a:rPr>
              <a:t>RunPod and Replit are not currently live deployments.</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437" name="TextBox 1"/>
          <p:cNvSpPr/>
          <p:nvPr/>
        </p:nvSpPr>
        <p:spPr>
          <a:xfrm>
            <a:off x="567000" y="274320"/>
            <a:ext cx="7040520" cy="20088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800" b="1" u="none" strike="noStrike">
                <a:solidFill>
                  <a:srgbClr val="2563EB"/>
                </a:solidFill>
                <a:effectLst/>
                <a:uFillTx/>
                <a:latin typeface="Noto Sans"/>
              </a:rPr>
              <a:t>10 / ROADMAP</a:t>
            </a:r>
            <a:endParaRPr lang="en-US" sz="800" b="0" u="none" strike="noStrike">
              <a:solidFill>
                <a:srgbClr val="000000"/>
              </a:solidFill>
              <a:effectLst/>
              <a:uFillTx/>
              <a:latin typeface="Arial"/>
            </a:endParaRPr>
          </a:p>
        </p:txBody>
      </p:sp>
      <p:sp>
        <p:nvSpPr>
          <p:cNvPr id="438" name="TextBox 2"/>
          <p:cNvSpPr/>
          <p:nvPr/>
        </p:nvSpPr>
        <p:spPr>
          <a:xfrm>
            <a:off x="548640" y="576000"/>
            <a:ext cx="11063880" cy="4478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2500" b="1" u="none" strike="noStrike">
                <a:solidFill>
                  <a:srgbClr val="172B4D"/>
                </a:solidFill>
                <a:effectLst/>
                <a:uFillTx/>
                <a:latin typeface="Noto Sans"/>
              </a:rPr>
              <a:t>The next milestone is a measured, operator-led pilot</a:t>
            </a:r>
            <a:endParaRPr lang="en-US" sz="2500" b="0" u="none" strike="noStrike">
              <a:solidFill>
                <a:srgbClr val="000000"/>
              </a:solidFill>
              <a:effectLst/>
              <a:uFillTx/>
              <a:latin typeface="Arial"/>
            </a:endParaRPr>
          </a:p>
        </p:txBody>
      </p:sp>
      <p:sp>
        <p:nvSpPr>
          <p:cNvPr id="439" name="TextBox 3"/>
          <p:cNvSpPr/>
          <p:nvPr/>
        </p:nvSpPr>
        <p:spPr>
          <a:xfrm>
            <a:off x="567000" y="1060560"/>
            <a:ext cx="10972440" cy="3654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100" b="0" u="none" strike="noStrike">
                <a:solidFill>
                  <a:srgbClr val="64748B"/>
                </a:solidFill>
                <a:effectLst/>
                <a:uFillTx/>
                <a:latin typeface="Noto Sans"/>
              </a:rPr>
              <a:t>Move from a working prototype to evidence in deliberate stages.</a:t>
            </a:r>
            <a:endParaRPr lang="en-US" sz="1100" b="0" u="none" strike="noStrike">
              <a:solidFill>
                <a:srgbClr val="000000"/>
              </a:solidFill>
              <a:effectLst/>
              <a:uFillTx/>
              <a:latin typeface="Arial"/>
            </a:endParaRPr>
          </a:p>
        </p:txBody>
      </p:sp>
      <p:cxnSp>
        <p:nvCxnSpPr>
          <p:cNvPr id="440" name="Connector 4"/>
          <p:cNvCxnSpPr/>
          <p:nvPr/>
        </p:nvCxnSpPr>
        <p:spPr>
          <a:xfrm>
            <a:off x="566640" y="1481040"/>
            <a:ext cx="11046600" cy="360"/>
          </a:xfrm>
          <a:prstGeom prst="straightConnector1">
            <a:avLst/>
          </a:prstGeom>
          <a:ln w="10160">
            <a:solidFill>
              <a:srgbClr val="DCE5F0"/>
            </a:solidFill>
            <a:round/>
          </a:ln>
        </p:spPr>
      </p:cxnSp>
      <p:sp>
        <p:nvSpPr>
          <p:cNvPr id="441" name="TextBox 5"/>
          <p:cNvSpPr/>
          <p:nvPr/>
        </p:nvSpPr>
        <p:spPr>
          <a:xfrm>
            <a:off x="11128320" y="6556320"/>
            <a:ext cx="438480" cy="15516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800" b="1" u="none" strike="noStrike">
                <a:solidFill>
                  <a:srgbClr val="64748B"/>
                </a:solidFill>
                <a:effectLst/>
                <a:uFillTx/>
                <a:latin typeface="Noto Sans"/>
              </a:rPr>
              <a:t>11</a:t>
            </a:r>
            <a:endParaRPr lang="en-US" sz="800" b="0" u="none" strike="noStrike">
              <a:solidFill>
                <a:srgbClr val="000000"/>
              </a:solidFill>
              <a:effectLst/>
              <a:uFillTx/>
              <a:latin typeface="Arial"/>
            </a:endParaRPr>
          </a:p>
        </p:txBody>
      </p:sp>
      <p:sp>
        <p:nvSpPr>
          <p:cNvPr id="442" name="TextBox 6"/>
          <p:cNvSpPr/>
          <p:nvPr/>
        </p:nvSpPr>
        <p:spPr>
          <a:xfrm>
            <a:off x="567000" y="6537960"/>
            <a:ext cx="4114440" cy="1641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700" b="1" u="none" strike="noStrike">
                <a:solidFill>
                  <a:srgbClr val="64748B"/>
                </a:solidFill>
                <a:effectLst/>
                <a:uFillTx/>
                <a:latin typeface="Noto Sans"/>
              </a:rPr>
              <a:t>D A P U R P L A N   •   S D C  2 0 2 6</a:t>
            </a:r>
            <a:endParaRPr lang="en-US" sz="700" b="0" u="none" strike="noStrike">
              <a:solidFill>
                <a:srgbClr val="000000"/>
              </a:solidFill>
              <a:effectLst/>
              <a:uFillTx/>
              <a:latin typeface="Arial"/>
            </a:endParaRPr>
          </a:p>
        </p:txBody>
      </p:sp>
      <p:sp>
        <p:nvSpPr>
          <p:cNvPr id="443" name="Rounded Rectangle 7"/>
          <p:cNvSpPr/>
          <p:nvPr/>
        </p:nvSpPr>
        <p:spPr>
          <a:xfrm>
            <a:off x="850320" y="2176200"/>
            <a:ext cx="1682280" cy="2395440"/>
          </a:xfrm>
          <a:prstGeom prst="roundRect">
            <a:avLst>
              <a:gd name="adj" fmla="val 12000"/>
            </a:avLst>
          </a:prstGeom>
          <a:solidFill>
            <a:srgbClr val="EAF2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4" name="Rounded Rectangle 8"/>
          <p:cNvSpPr/>
          <p:nvPr/>
        </p:nvSpPr>
        <p:spPr>
          <a:xfrm>
            <a:off x="1005840" y="2404800"/>
            <a:ext cx="8409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5" name="TextBox 9"/>
          <p:cNvSpPr/>
          <p:nvPr/>
        </p:nvSpPr>
        <p:spPr>
          <a:xfrm>
            <a:off x="1060560" y="2427840"/>
            <a:ext cx="7311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2563EB"/>
                </a:solidFill>
                <a:effectLst/>
                <a:uFillTx/>
                <a:latin typeface="Noto Sans"/>
              </a:rPr>
              <a:t>NOW</a:t>
            </a:r>
            <a:endParaRPr lang="en-US" sz="800" b="0" u="none" strike="noStrike">
              <a:solidFill>
                <a:srgbClr val="000000"/>
              </a:solidFill>
              <a:effectLst/>
              <a:uFillTx/>
              <a:latin typeface="Arial"/>
            </a:endParaRPr>
          </a:p>
        </p:txBody>
      </p:sp>
      <p:sp>
        <p:nvSpPr>
          <p:cNvPr id="446" name="TextBox 10"/>
          <p:cNvSpPr/>
          <p:nvPr/>
        </p:nvSpPr>
        <p:spPr>
          <a:xfrm>
            <a:off x="1005840" y="2853000"/>
            <a:ext cx="1352880" cy="282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1" u="none" strike="noStrike">
                <a:solidFill>
                  <a:srgbClr val="172B4D"/>
                </a:solidFill>
                <a:effectLst/>
                <a:uFillTx/>
                <a:latin typeface="Noto Sans"/>
              </a:rPr>
              <a:t>Prototype</a:t>
            </a:r>
            <a:endParaRPr lang="en-US" sz="1300" b="0" u="none" strike="noStrike">
              <a:solidFill>
                <a:srgbClr val="000000"/>
              </a:solidFill>
              <a:effectLst/>
              <a:uFillTx/>
              <a:latin typeface="Arial"/>
            </a:endParaRPr>
          </a:p>
        </p:txBody>
      </p:sp>
      <p:sp>
        <p:nvSpPr>
          <p:cNvPr id="447" name="TextBox 11"/>
          <p:cNvSpPr/>
          <p:nvPr/>
        </p:nvSpPr>
        <p:spPr>
          <a:xfrm>
            <a:off x="1005840" y="3310200"/>
            <a:ext cx="1352880" cy="1060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1000" b="1" u="none" strike="noStrike">
                <a:solidFill>
                  <a:srgbClr val="405472"/>
                </a:solidFill>
                <a:effectLst/>
                <a:uFillTx/>
                <a:latin typeface="Noto Sans"/>
              </a:rPr>
              <a:t>Daily records</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Forecast flow</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Recipe-scaled needs</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405472"/>
                </a:solidFill>
                <a:effectLst/>
                <a:uFillTx/>
                <a:latin typeface="Noto Sans"/>
              </a:rPr>
              <a:t>Review &amp; approval</a:t>
            </a:r>
            <a:endParaRPr lang="en-US" sz="1000" b="0" u="none" strike="noStrike">
              <a:solidFill>
                <a:srgbClr val="000000"/>
              </a:solidFill>
              <a:effectLst/>
              <a:uFillTx/>
              <a:latin typeface="Arial"/>
            </a:endParaRPr>
          </a:p>
        </p:txBody>
      </p:sp>
      <p:cxnSp>
        <p:nvCxnSpPr>
          <p:cNvPr id="448" name="Connector 12"/>
          <p:cNvCxnSpPr/>
          <p:nvPr/>
        </p:nvCxnSpPr>
        <p:spPr>
          <a:xfrm>
            <a:off x="2569320" y="3346560"/>
            <a:ext cx="1143360" cy="360"/>
          </a:xfrm>
          <a:prstGeom prst="straightConnector1">
            <a:avLst/>
          </a:prstGeom>
          <a:ln w="22860">
            <a:solidFill>
              <a:srgbClr val="B8CCE7"/>
            </a:solidFill>
            <a:round/>
          </a:ln>
        </p:spPr>
      </p:cxnSp>
      <p:sp>
        <p:nvSpPr>
          <p:cNvPr id="449" name="Rounded Rectangle 13"/>
          <p:cNvSpPr/>
          <p:nvPr/>
        </p:nvSpPr>
        <p:spPr>
          <a:xfrm>
            <a:off x="3785760" y="2176200"/>
            <a:ext cx="1682280" cy="2395440"/>
          </a:xfrm>
          <a:prstGeom prst="roundRect">
            <a:avLst>
              <a:gd name="adj" fmla="val 12000"/>
            </a:avLst>
          </a:prstGeom>
          <a:solidFill>
            <a:srgbClr val="F1EC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0" name="Rounded Rectangle 14"/>
          <p:cNvSpPr/>
          <p:nvPr/>
        </p:nvSpPr>
        <p:spPr>
          <a:xfrm>
            <a:off x="3940920" y="2404800"/>
            <a:ext cx="8409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1" name="TextBox 15"/>
          <p:cNvSpPr/>
          <p:nvPr/>
        </p:nvSpPr>
        <p:spPr>
          <a:xfrm>
            <a:off x="3996000" y="2427840"/>
            <a:ext cx="7311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6941C6"/>
                </a:solidFill>
                <a:effectLst/>
                <a:uFillTx/>
                <a:latin typeface="Noto Sans"/>
              </a:rPr>
              <a:t>NEXT</a:t>
            </a:r>
            <a:endParaRPr lang="en-US" sz="800" b="0" u="none" strike="noStrike">
              <a:solidFill>
                <a:srgbClr val="000000"/>
              </a:solidFill>
              <a:effectLst/>
              <a:uFillTx/>
              <a:latin typeface="Arial"/>
            </a:endParaRPr>
          </a:p>
        </p:txBody>
      </p:sp>
      <p:sp>
        <p:nvSpPr>
          <p:cNvPr id="452" name="TextBox 16"/>
          <p:cNvSpPr/>
          <p:nvPr/>
        </p:nvSpPr>
        <p:spPr>
          <a:xfrm>
            <a:off x="3940920" y="2853000"/>
            <a:ext cx="1352880" cy="282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1" u="none" strike="noStrike">
                <a:solidFill>
                  <a:srgbClr val="172B4D"/>
                </a:solidFill>
                <a:effectLst/>
                <a:uFillTx/>
                <a:latin typeface="Noto Sans"/>
              </a:rPr>
              <a:t>Pilot readiness</a:t>
            </a:r>
            <a:endParaRPr lang="en-US" sz="1300" b="0" u="none" strike="noStrike">
              <a:solidFill>
                <a:srgbClr val="000000"/>
              </a:solidFill>
              <a:effectLst/>
              <a:uFillTx/>
              <a:latin typeface="Arial"/>
            </a:endParaRPr>
          </a:p>
        </p:txBody>
      </p:sp>
      <p:sp>
        <p:nvSpPr>
          <p:cNvPr id="453" name="TextBox 17"/>
          <p:cNvSpPr/>
          <p:nvPr/>
        </p:nvSpPr>
        <p:spPr>
          <a:xfrm>
            <a:off x="3940920" y="3310200"/>
            <a:ext cx="1352880" cy="1060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1000" b="1" u="none" strike="noStrike">
                <a:solidFill>
                  <a:srgbClr val="405472"/>
                </a:solidFill>
                <a:effectLst/>
                <a:uFillTx/>
                <a:latin typeface="Noto Sans"/>
              </a:rPr>
              <a:t>Secure accounts</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Persistent deployment</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Operator onboarding</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405472"/>
                </a:solidFill>
                <a:effectLst/>
                <a:uFillTx/>
                <a:latin typeface="Noto Sans"/>
              </a:rPr>
              <a:t>Consent &amp; baseline</a:t>
            </a:r>
            <a:endParaRPr lang="en-US" sz="1000" b="0" u="none" strike="noStrike">
              <a:solidFill>
                <a:srgbClr val="000000"/>
              </a:solidFill>
              <a:effectLst/>
              <a:uFillTx/>
              <a:latin typeface="Arial"/>
            </a:endParaRPr>
          </a:p>
        </p:txBody>
      </p:sp>
      <p:cxnSp>
        <p:nvCxnSpPr>
          <p:cNvPr id="454" name="Connector 18"/>
          <p:cNvCxnSpPr/>
          <p:nvPr/>
        </p:nvCxnSpPr>
        <p:spPr>
          <a:xfrm>
            <a:off x="5504400" y="3346560"/>
            <a:ext cx="1143360" cy="360"/>
          </a:xfrm>
          <a:prstGeom prst="straightConnector1">
            <a:avLst/>
          </a:prstGeom>
          <a:ln w="22860">
            <a:solidFill>
              <a:srgbClr val="B8CCE7"/>
            </a:solidFill>
            <a:round/>
          </a:ln>
        </p:spPr>
      </p:cxnSp>
      <p:sp>
        <p:nvSpPr>
          <p:cNvPr id="455" name="Rounded Rectangle 19"/>
          <p:cNvSpPr/>
          <p:nvPr/>
        </p:nvSpPr>
        <p:spPr>
          <a:xfrm>
            <a:off x="6720840" y="2176200"/>
            <a:ext cx="1682280" cy="2395440"/>
          </a:xfrm>
          <a:prstGeom prst="roundRect">
            <a:avLst>
              <a:gd name="adj" fmla="val 12000"/>
            </a:avLst>
          </a:prstGeom>
          <a:solidFill>
            <a:srgbClr val="E8F6E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6" name="Rounded Rectangle 20"/>
          <p:cNvSpPr/>
          <p:nvPr/>
        </p:nvSpPr>
        <p:spPr>
          <a:xfrm>
            <a:off x="6876360" y="2404800"/>
            <a:ext cx="8409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7" name="TextBox 21"/>
          <p:cNvSpPr/>
          <p:nvPr/>
        </p:nvSpPr>
        <p:spPr>
          <a:xfrm>
            <a:off x="6931080" y="2427840"/>
            <a:ext cx="7311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167C5A"/>
                </a:solidFill>
                <a:effectLst/>
                <a:uFillTx/>
                <a:latin typeface="Noto Sans"/>
              </a:rPr>
              <a:t>PILOT</a:t>
            </a:r>
            <a:endParaRPr lang="en-US" sz="800" b="0" u="none" strike="noStrike">
              <a:solidFill>
                <a:srgbClr val="000000"/>
              </a:solidFill>
              <a:effectLst/>
              <a:uFillTx/>
              <a:latin typeface="Arial"/>
            </a:endParaRPr>
          </a:p>
        </p:txBody>
      </p:sp>
      <p:sp>
        <p:nvSpPr>
          <p:cNvPr id="458" name="TextBox 22"/>
          <p:cNvSpPr/>
          <p:nvPr/>
        </p:nvSpPr>
        <p:spPr>
          <a:xfrm>
            <a:off x="6876360" y="2853000"/>
            <a:ext cx="1352880" cy="282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1" u="none" strike="noStrike">
                <a:solidFill>
                  <a:srgbClr val="172B4D"/>
                </a:solidFill>
                <a:effectLst/>
                <a:uFillTx/>
                <a:latin typeface="Noto Sans"/>
              </a:rPr>
              <a:t>Measure in context</a:t>
            </a:r>
            <a:endParaRPr lang="en-US" sz="1300" b="0" u="none" strike="noStrike">
              <a:solidFill>
                <a:srgbClr val="000000"/>
              </a:solidFill>
              <a:effectLst/>
              <a:uFillTx/>
              <a:latin typeface="Arial"/>
            </a:endParaRPr>
          </a:p>
        </p:txBody>
      </p:sp>
      <p:sp>
        <p:nvSpPr>
          <p:cNvPr id="459" name="TextBox 23"/>
          <p:cNvSpPr/>
          <p:nvPr/>
        </p:nvSpPr>
        <p:spPr>
          <a:xfrm>
            <a:off x="6876360" y="3310200"/>
            <a:ext cx="1352880" cy="1060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1000" b="1" u="none" strike="noStrike">
                <a:solidFill>
                  <a:srgbClr val="405472"/>
                </a:solidFill>
                <a:effectLst/>
                <a:uFillTx/>
                <a:latin typeface="Noto Sans"/>
              </a:rPr>
              <a:t>Track real sales</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Compare baseline</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Review stock outcomes</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405472"/>
                </a:solidFill>
                <a:effectLst/>
                <a:uFillTx/>
                <a:latin typeface="Noto Sans"/>
              </a:rPr>
              <a:t>Collect user feedback</a:t>
            </a:r>
            <a:endParaRPr lang="en-US" sz="1000" b="0" u="none" strike="noStrike">
              <a:solidFill>
                <a:srgbClr val="000000"/>
              </a:solidFill>
              <a:effectLst/>
              <a:uFillTx/>
              <a:latin typeface="Arial"/>
            </a:endParaRPr>
          </a:p>
        </p:txBody>
      </p:sp>
      <p:cxnSp>
        <p:nvCxnSpPr>
          <p:cNvPr id="460" name="Connector 24"/>
          <p:cNvCxnSpPr/>
          <p:nvPr/>
        </p:nvCxnSpPr>
        <p:spPr>
          <a:xfrm>
            <a:off x="8439840" y="3346560"/>
            <a:ext cx="1143360" cy="360"/>
          </a:xfrm>
          <a:prstGeom prst="straightConnector1">
            <a:avLst/>
          </a:prstGeom>
          <a:ln w="22860">
            <a:solidFill>
              <a:srgbClr val="B8CCE7"/>
            </a:solidFill>
            <a:round/>
          </a:ln>
        </p:spPr>
      </p:cxnSp>
      <p:sp>
        <p:nvSpPr>
          <p:cNvPr id="461" name="Rounded Rectangle 25"/>
          <p:cNvSpPr/>
          <p:nvPr/>
        </p:nvSpPr>
        <p:spPr>
          <a:xfrm>
            <a:off x="9655920" y="2176200"/>
            <a:ext cx="1682280" cy="2395440"/>
          </a:xfrm>
          <a:prstGeom prst="roundRect">
            <a:avLst>
              <a:gd name="adj" fmla="val 12000"/>
            </a:avLst>
          </a:prstGeom>
          <a:solidFill>
            <a:srgbClr val="FFF5D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2" name="Rounded Rectangle 26"/>
          <p:cNvSpPr/>
          <p:nvPr/>
        </p:nvSpPr>
        <p:spPr>
          <a:xfrm>
            <a:off x="9811440" y="2404800"/>
            <a:ext cx="840960" cy="27396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TextBox 27"/>
          <p:cNvSpPr/>
          <p:nvPr/>
        </p:nvSpPr>
        <p:spPr>
          <a:xfrm>
            <a:off x="9866520" y="2427840"/>
            <a:ext cx="731160" cy="2098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800" b="1" u="none" strike="noStrike">
                <a:solidFill>
                  <a:srgbClr val="A35B09"/>
                </a:solidFill>
                <a:effectLst/>
                <a:uFillTx/>
                <a:latin typeface="Noto Sans"/>
              </a:rPr>
              <a:t>LEARN</a:t>
            </a:r>
            <a:endParaRPr lang="en-US" sz="800" b="0" u="none" strike="noStrike">
              <a:solidFill>
                <a:srgbClr val="000000"/>
              </a:solidFill>
              <a:effectLst/>
              <a:uFillTx/>
              <a:latin typeface="Arial"/>
            </a:endParaRPr>
          </a:p>
        </p:txBody>
      </p:sp>
      <p:sp>
        <p:nvSpPr>
          <p:cNvPr id="464" name="TextBox 28"/>
          <p:cNvSpPr/>
          <p:nvPr/>
        </p:nvSpPr>
        <p:spPr>
          <a:xfrm>
            <a:off x="9811440" y="2853000"/>
            <a:ext cx="1352880" cy="282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300" b="1" u="none" strike="noStrike">
                <a:solidFill>
                  <a:srgbClr val="172B4D"/>
                </a:solidFill>
                <a:effectLst/>
                <a:uFillTx/>
                <a:latin typeface="Noto Sans"/>
              </a:rPr>
              <a:t>Improve safely</a:t>
            </a:r>
            <a:endParaRPr lang="en-US" sz="1300" b="0" u="none" strike="noStrike">
              <a:solidFill>
                <a:srgbClr val="000000"/>
              </a:solidFill>
              <a:effectLst/>
              <a:uFillTx/>
              <a:latin typeface="Arial"/>
            </a:endParaRPr>
          </a:p>
        </p:txBody>
      </p:sp>
      <p:sp>
        <p:nvSpPr>
          <p:cNvPr id="465" name="TextBox 29"/>
          <p:cNvSpPr/>
          <p:nvPr/>
        </p:nvSpPr>
        <p:spPr>
          <a:xfrm>
            <a:off x="9811440" y="3310200"/>
            <a:ext cx="1352880" cy="106020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1000" b="1" u="none" strike="noStrike">
                <a:solidFill>
                  <a:srgbClr val="405472"/>
                </a:solidFill>
                <a:effectLst/>
                <a:uFillTx/>
                <a:latin typeface="Noto Sans"/>
              </a:rPr>
              <a:t>Retrain only with</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sufficient data</a:t>
            </a:r>
            <a:endParaRPr lang="en-US" sz="1000" b="0" u="none" strike="noStrike">
              <a:solidFill>
                <a:srgbClr val="000000"/>
              </a:solidFill>
              <a:effectLst/>
              <a:uFillTx/>
              <a:latin typeface="Arial"/>
            </a:endParaRPr>
          </a:p>
          <a:p>
            <a:pPr defTabSz="457200">
              <a:lnSpc>
                <a:spcPct val="100000"/>
              </a:lnSpc>
              <a:spcAft>
                <a:spcPts val="400"/>
              </a:spcAft>
            </a:pPr>
            <a:r>
              <a:rPr lang="en-US" sz="1000" b="1" u="none" strike="noStrike">
                <a:solidFill>
                  <a:srgbClr val="405472"/>
                </a:solidFill>
                <a:effectLst/>
                <a:uFillTx/>
                <a:latin typeface="Noto Sans"/>
              </a:rPr>
              <a:t>Monitor per-menu error</a:t>
            </a:r>
            <a:endParaRPr lang="en-US" sz="1000" b="0" u="none" strike="noStrike">
              <a:solidFill>
                <a:srgbClr val="000000"/>
              </a:solidFill>
              <a:effectLst/>
              <a:uFillTx/>
              <a:latin typeface="Arial"/>
            </a:endParaRPr>
          </a:p>
          <a:p>
            <a:pPr defTabSz="457200">
              <a:lnSpc>
                <a:spcPct val="100000"/>
              </a:lnSpc>
            </a:pPr>
            <a:r>
              <a:rPr lang="en-US" sz="1000" b="1" u="none" strike="noStrike">
                <a:solidFill>
                  <a:srgbClr val="405472"/>
                </a:solidFill>
                <a:effectLst/>
                <a:uFillTx/>
                <a:latin typeface="Noto Sans"/>
              </a:rPr>
              <a:t>Iterate with operators</a:t>
            </a:r>
            <a:endParaRPr lang="en-US" sz="1000" b="0" u="none" strike="noStrike">
              <a:solidFill>
                <a:srgbClr val="000000"/>
              </a:solidFill>
              <a:effectLst/>
              <a:uFillTx/>
              <a:latin typeface="Arial"/>
            </a:endParaRPr>
          </a:p>
        </p:txBody>
      </p:sp>
      <p:sp>
        <p:nvSpPr>
          <p:cNvPr id="466" name="Rounded Rectangle 30"/>
          <p:cNvSpPr/>
          <p:nvPr/>
        </p:nvSpPr>
        <p:spPr>
          <a:xfrm>
            <a:off x="868680" y="5083920"/>
            <a:ext cx="10451160" cy="740160"/>
          </a:xfrm>
          <a:prstGeom prst="roundRect">
            <a:avLst>
              <a:gd name="adj" fmla="val 12000"/>
            </a:avLst>
          </a:prstGeom>
          <a:solidFill>
            <a:srgbClr val="172B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31"/>
          <p:cNvSpPr/>
          <p:nvPr/>
        </p:nvSpPr>
        <p:spPr>
          <a:xfrm>
            <a:off x="1143000" y="5276160"/>
            <a:ext cx="9875160" cy="31068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1300" b="1" u="none" strike="noStrike">
                <a:solidFill>
                  <a:srgbClr val="FFFFFF"/>
                </a:solidFill>
                <a:effectLst/>
                <a:uFillTx/>
                <a:latin typeface="Noto Sans"/>
              </a:rPr>
              <a:t>Success means better decisions demonstrated with real operational data—not a model score alone.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9FF"/>
        </a:solidFill>
      </p:bgPr>
    </p:bg>
    <p:spTree>
      <p:nvGrpSpPr>
        <p:cNvPr id="1" name=""/>
        <p:cNvGrpSpPr/>
        <p:nvPr/>
      </p:nvGrpSpPr>
      <p:grpSpPr>
        <a:xfrm>
          <a:off x="0" y="0"/>
          <a:ext cx="0" cy="0"/>
          <a:chOff x="0" y="0"/>
          <a:chExt cx="0" cy="0"/>
        </a:xfrm>
      </p:grpSpPr>
      <p:sp>
        <p:nvSpPr>
          <p:cNvPr id="468" name="Rectangle 1"/>
          <p:cNvSpPr/>
          <p:nvPr/>
        </p:nvSpPr>
        <p:spPr>
          <a:xfrm>
            <a:off x="0" y="0"/>
            <a:ext cx="12191760" cy="6857640"/>
          </a:xfrm>
          <a:prstGeom prst="rect">
            <a:avLst/>
          </a:prstGeom>
          <a:solidFill>
            <a:srgbClr val="172B4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9" name="Oval 2"/>
          <p:cNvSpPr/>
          <p:nvPr/>
        </p:nvSpPr>
        <p:spPr>
          <a:xfrm>
            <a:off x="9829800" y="-411480"/>
            <a:ext cx="2834280" cy="2834280"/>
          </a:xfrm>
          <a:prstGeom prst="ellipse">
            <a:avLst/>
          </a:prstGeom>
          <a:solidFill>
            <a:srgbClr val="1D4ED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Oval 3"/>
          <p:cNvSpPr/>
          <p:nvPr/>
        </p:nvSpPr>
        <p:spPr>
          <a:xfrm>
            <a:off x="10561320" y="5376600"/>
            <a:ext cx="1188360" cy="1188360"/>
          </a:xfrm>
          <a:prstGeom prst="ellipse">
            <a:avLst/>
          </a:prstGeom>
          <a:solidFill>
            <a:srgbClr val="2563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1" name="Oval 4"/>
          <p:cNvSpPr/>
          <p:nvPr/>
        </p:nvSpPr>
        <p:spPr>
          <a:xfrm>
            <a:off x="8988480" y="5861160"/>
            <a:ext cx="200880" cy="200880"/>
          </a:xfrm>
          <a:prstGeom prst="ellipse">
            <a:avLst/>
          </a:prstGeom>
          <a:solidFill>
            <a:srgbClr val="0D8A8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Oval 5"/>
          <p:cNvSpPr/>
          <p:nvPr/>
        </p:nvSpPr>
        <p:spPr>
          <a:xfrm>
            <a:off x="11411640" y="2322720"/>
            <a:ext cx="155160" cy="155160"/>
          </a:xfrm>
          <a:prstGeom prst="ellipse">
            <a:avLst/>
          </a:prstGeom>
          <a:solidFill>
            <a:srgbClr val="DBEA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TextBox 6"/>
          <p:cNvSpPr/>
          <p:nvPr/>
        </p:nvSpPr>
        <p:spPr>
          <a:xfrm>
            <a:off x="749880" y="567000"/>
            <a:ext cx="3657240" cy="264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000" b="1" u="none" strike="noStrike">
                <a:solidFill>
                  <a:srgbClr val="DBEAFE"/>
                </a:solidFill>
                <a:effectLst/>
                <a:uFillTx/>
                <a:latin typeface="Noto Sans"/>
              </a:rPr>
              <a:t>TEAM S.E.E.S  •  DOMAIN 2  •  SDG 12</a:t>
            </a:r>
            <a:endParaRPr lang="en-US" sz="1000" b="0" u="none" strike="noStrike">
              <a:solidFill>
                <a:srgbClr val="000000"/>
              </a:solidFill>
              <a:effectLst/>
              <a:uFillTx/>
              <a:latin typeface="Arial"/>
            </a:endParaRPr>
          </a:p>
        </p:txBody>
      </p:sp>
      <p:sp>
        <p:nvSpPr>
          <p:cNvPr id="474" name="TextBox 7"/>
          <p:cNvSpPr/>
          <p:nvPr/>
        </p:nvSpPr>
        <p:spPr>
          <a:xfrm>
            <a:off x="713160" y="1207080"/>
            <a:ext cx="6811920" cy="9597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spcAft>
                <a:spcPts val="400"/>
              </a:spcAft>
            </a:pPr>
            <a:r>
              <a:rPr lang="en-US" sz="3100" b="1" u="none" strike="noStrike">
                <a:solidFill>
                  <a:srgbClr val="FFFFFF"/>
                </a:solidFill>
                <a:effectLst/>
                <a:uFillTx/>
                <a:latin typeface="Noto Sans"/>
              </a:rPr>
              <a:t>Cook to demand.</a:t>
            </a:r>
            <a:endParaRPr lang="en-US" sz="3100" b="0" u="none" strike="noStrike">
              <a:solidFill>
                <a:srgbClr val="000000"/>
              </a:solidFill>
              <a:effectLst/>
              <a:uFillTx/>
              <a:latin typeface="Arial"/>
            </a:endParaRPr>
          </a:p>
          <a:p>
            <a:pPr defTabSz="457200">
              <a:lnSpc>
                <a:spcPct val="100000"/>
              </a:lnSpc>
            </a:pPr>
            <a:r>
              <a:rPr lang="en-US" sz="3100" b="1" u="none" strike="noStrike">
                <a:solidFill>
                  <a:srgbClr val="FFFFFF"/>
                </a:solidFill>
                <a:effectLst/>
                <a:uFillTx/>
                <a:latin typeface="Noto Sans"/>
              </a:rPr>
              <a:t>Not guesswork.</a:t>
            </a:r>
            <a:endParaRPr lang="en-US" sz="3100" b="0" u="none" strike="noStrike">
              <a:solidFill>
                <a:srgbClr val="000000"/>
              </a:solidFill>
              <a:effectLst/>
              <a:uFillTx/>
              <a:latin typeface="Arial"/>
            </a:endParaRPr>
          </a:p>
        </p:txBody>
      </p:sp>
      <p:sp>
        <p:nvSpPr>
          <p:cNvPr id="475" name="TextBox 8"/>
          <p:cNvSpPr/>
          <p:nvPr/>
        </p:nvSpPr>
        <p:spPr>
          <a:xfrm>
            <a:off x="768240" y="2788920"/>
            <a:ext cx="5924880" cy="84996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1700" b="0" u="none" strike="noStrike">
                <a:solidFill>
                  <a:srgbClr val="DBEAFE"/>
                </a:solidFill>
                <a:effectLst/>
                <a:uFillTx/>
                <a:latin typeface="Noto Sans"/>
              </a:rPr>
              <a:t>We’re building a practical bridge between what sold, what a recipe needs, and what the kitchen already has.</a:t>
            </a:r>
            <a:endParaRPr lang="en-US" sz="1700" b="0" u="none" strike="noStrike">
              <a:solidFill>
                <a:srgbClr val="000000"/>
              </a:solidFill>
              <a:effectLst/>
              <a:uFillTx/>
              <a:latin typeface="Arial"/>
            </a:endParaRPr>
          </a:p>
        </p:txBody>
      </p:sp>
      <p:sp>
        <p:nvSpPr>
          <p:cNvPr id="476" name="Rounded Rectangle 9"/>
          <p:cNvSpPr/>
          <p:nvPr/>
        </p:nvSpPr>
        <p:spPr>
          <a:xfrm>
            <a:off x="777240" y="4078080"/>
            <a:ext cx="5412960" cy="1005480"/>
          </a:xfrm>
          <a:prstGeom prst="roundRect">
            <a:avLst>
              <a:gd name="adj" fmla="val 12000"/>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7" name="TextBox 10"/>
          <p:cNvSpPr/>
          <p:nvPr/>
        </p:nvSpPr>
        <p:spPr>
          <a:xfrm>
            <a:off x="1024200" y="4279320"/>
            <a:ext cx="4919040" cy="575640"/>
          </a:xfrm>
          <a:prstGeom prst="rect">
            <a:avLst/>
          </a:prstGeom>
          <a:noFill/>
          <a:ln w="0">
            <a:noFill/>
          </a:ln>
        </p:spPr>
        <p:style>
          <a:lnRef idx="0"/>
          <a:fillRef idx="0"/>
          <a:effectRef idx="0"/>
          <a:fontRef idx="minor"/>
        </p:style>
        <p:txBody>
          <a:bodyPr lIns="18360" tIns="18360" rIns="18360" bIns="18360" anchor="ctr">
            <a:spAutoFit/>
          </a:bodyPr>
          <a:p>
            <a:pPr algn="ctr" defTabSz="457200">
              <a:lnSpc>
                <a:spcPct val="100000"/>
              </a:lnSpc>
            </a:pPr>
            <a:r>
              <a:rPr lang="en-US" sz="1300" b="1" u="none" strike="noStrike">
                <a:solidFill>
                  <a:srgbClr val="172B4D"/>
                </a:solidFill>
                <a:effectLst/>
                <a:uFillTx/>
                <a:latin typeface="Noto Sans"/>
              </a:rPr>
              <a:t>Our ask: help us validate the workflow with food operators and real, consented sales data.</a:t>
            </a:r>
            <a:endParaRPr lang="en-US" sz="1300" b="0" u="none" strike="noStrike">
              <a:solidFill>
                <a:srgbClr val="000000"/>
              </a:solidFill>
              <a:effectLst/>
              <a:uFillTx/>
              <a:latin typeface="Arial"/>
            </a:endParaRPr>
          </a:p>
        </p:txBody>
      </p:sp>
      <p:sp>
        <p:nvSpPr>
          <p:cNvPr id="478" name="TextBox 12"/>
          <p:cNvSpPr/>
          <p:nvPr/>
        </p:nvSpPr>
        <p:spPr>
          <a:xfrm>
            <a:off x="685800" y="6346080"/>
            <a:ext cx="6912360" cy="237240"/>
          </a:xfrm>
          <a:prstGeom prst="rect">
            <a:avLst/>
          </a:prstGeom>
          <a:noFill/>
          <a:ln w="0">
            <a:noFill/>
          </a:ln>
        </p:spPr>
        <p:style>
          <a:lnRef idx="0"/>
          <a:fillRef idx="0"/>
          <a:effectRef idx="0"/>
          <a:fontRef idx="minor"/>
        </p:style>
        <p:txBody>
          <a:bodyPr lIns="18360" tIns="18360" rIns="18360" bIns="18360" anchor="t">
            <a:spAutoFit/>
          </a:bodyPr>
          <a:p>
            <a:pPr defTabSz="457200">
              <a:lnSpc>
                <a:spcPct val="100000"/>
              </a:lnSpc>
            </a:pPr>
            <a:r>
              <a:rPr lang="en-US" sz="900" b="0" u="none" strike="noStrike">
                <a:solidFill>
                  <a:srgbClr val="DBEAFE"/>
                </a:solidFill>
                <a:effectLst/>
                <a:uFillTx/>
                <a:latin typeface="Noto Sans"/>
              </a:rPr>
              <a:t>Universiti Malaysia Terengganu × Universiti Teknologi MARA  •  3 members</a:t>
            </a:r>
            <a:endParaRPr lang="en-US" sz="900" b="0" u="none" strike="noStrike">
              <a:solidFill>
                <a:srgbClr val="000000"/>
              </a:solidFill>
              <a:effectLst/>
              <a:uFillTx/>
              <a:latin typeface="Arial"/>
            </a:endParaRPr>
          </a:p>
        </p:txBody>
      </p:sp>
      <p:sp>
        <p:nvSpPr>
          <p:cNvPr id="479" name="TextBox 13"/>
          <p:cNvSpPr/>
          <p:nvPr/>
        </p:nvSpPr>
        <p:spPr>
          <a:xfrm>
            <a:off x="7379280" y="6346080"/>
            <a:ext cx="3885840" cy="182520"/>
          </a:xfrm>
          <a:prstGeom prst="rect">
            <a:avLst/>
          </a:prstGeom>
          <a:noFill/>
          <a:ln w="0">
            <a:noFill/>
          </a:ln>
        </p:spPr>
        <p:style>
          <a:lnRef idx="0"/>
          <a:fillRef idx="0"/>
          <a:effectRef idx="0"/>
          <a:fontRef idx="minor"/>
        </p:style>
        <p:txBody>
          <a:bodyPr lIns="18360" tIns="18360" rIns="18360" bIns="18360" anchor="t">
            <a:spAutoFit/>
          </a:bodyPr>
          <a:p>
            <a:pPr algn="r" defTabSz="457200">
              <a:lnSpc>
                <a:spcPct val="100000"/>
              </a:lnSpc>
            </a:pPr>
            <a:r>
              <a:rPr lang="en-US" sz="900" b="1" u="none" strike="noStrike">
                <a:solidFill>
                  <a:srgbClr val="FFFFFF"/>
                </a:solidFill>
                <a:effectLst/>
                <a:uFillTx/>
                <a:latin typeface="Noto Sans"/>
              </a:rPr>
              <a:t>github.com/Etticx/DapurPlan</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Team S.E.E.S</dc:creator>
  <dc:description>generated using python-pptx</dc:description>
  <cp:keywords>DapurPlan SDC Hackathon 2026 SDG 12 food preparation planning</cp:keywords>
  <dc:language>en-US</dc:language>
  <cp:lastModifiedBy/>
  <cp:lastPrinted>2026-10-24T19:55:59Z</cp:lastPrinted>
  <dcterms:modified xsi:type="dcterms:W3CDTF">2026-10-24T20:00:24Z</dcterms:modified>
  <cp:revision>3</cp:revision>
  <dc:subject>Detailed product, model, architecture, validation and impact pitch</dc:subject>
  <dc:title>DapurPlan | SDC Hackathon 2026 — Full 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